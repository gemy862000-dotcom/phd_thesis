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image/jpeg" Extension="jpe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1.xml"/>
  <Override ContentType="application/vnd.openxmlformats-officedocument.drawingml.diagramData+xml" PartName="/ppt/diagrams/data1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drawingml.diagramLayout+xml" PartName="/ppt/diagrams/layout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drawingml.diagramStyle+xml" PartName="/ppt/diagrams/quickStyle1.xml"/>
  <Override ContentType="application/vnd.openxmlformats-officedocument.presentationml.presentation.main+xml" PartName="/ppt/presentation.xml"/>
  <Override ContentType="application/vnd.ms-office.drawingml.diagramDrawing+xml" PartName="/ppt/diagrams/drawing1.xml"/>
  <Override ContentType="application/vnd.openxmlformats-officedocument.presentationml.presProps+xml" PartName="/ppt/presProps1.xml"/>
  <Override ContentType="application/vnd.openxmlformats-officedocument.drawingml.diagramColors+xml" PartName="/ppt/diagrams/colors1.xml"/>
  <Override ContentType="application/vnd.openxmlformats-officedocument.theme+xml" PartName="/ppt/theme/theme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6858000" cx="12192000"/>
  <p:notesSz cx="6858000" cy="9144000"/>
  <p:defaultTextStyle>
    <a:defPPr lvl="0">
      <a:defRPr lang="en-US"/>
    </a:defPPr>
    <a:lvl1pPr defTabSz="4572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4572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4572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4572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4572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4572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4572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4572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4572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1.xml><?xml version="1.0" encoding="utf-8"?>
<a:tblStyleLst xmlns:a="http://schemas.openxmlformats.org/drawingml/2006/main" xmlns:r="http://schemas.openxmlformats.org/officeDocument/2006/relationships" def="{90651C3A-4460-11DB-9652-00E08161165F}"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cmpd="sng" w="12700">
              <a:solidFill>
                <a:schemeClr val="lt1"/>
              </a:solidFill>
            </a:ln>
          </a:left>
          <a:right>
            <a:ln cmpd="sng" w="12700">
              <a:solidFill>
                <a:schemeClr val="lt1"/>
              </a:solidFill>
            </a:ln>
          </a:right>
          <a:top>
            <a:ln cmpd="sng" w="12700">
              <a:solidFill>
                <a:schemeClr val="lt1"/>
              </a:solidFill>
            </a:ln>
          </a:top>
          <a:bottom>
            <a:ln cmpd="sng" w="12700">
              <a:solidFill>
                <a:schemeClr val="lt1"/>
              </a:solidFill>
            </a:ln>
          </a:bottom>
          <a:insideH>
            <a:ln cmpd="sng" w="12700">
              <a:solidFill>
                <a:schemeClr val="lt1"/>
              </a:solidFill>
            </a:ln>
          </a:insideH>
          <a:insideV>
            <a:ln cmpd="sng" w="12700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cmpd="sng" w="38100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cmpd="sng" w="38100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tableStyles" Target="tableStyle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6A21304-BC0C-4BD0-A810-091FB7B171EC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6BB4569-0DE2-439F-98F8-5F4DAA928FA3}">
      <dgm:prSet/>
      <dgm:spPr>
        <a:solidFill>
          <a:schemeClr val="bg2">
            <a:lumMod val="50000"/>
          </a:schemeClr>
        </a:solidFill>
      </dgm:spPr>
      <dgm:t>
        <a:bodyPr/>
        <a:lstStyle/>
        <a:p>
          <a:r>
            <a:rPr lang="en-US" dirty="0"/>
            <a:t>Introduction</a:t>
          </a:r>
        </a:p>
      </dgm:t>
    </dgm:pt>
    <dgm:pt modelId="{7472321F-EFBA-4D9A-9224-E363112F73D9}" type="parTrans" cxnId="{102FFADB-B225-4BD8-96EB-713C8E854DE2}">
      <dgm:prSet/>
      <dgm:spPr/>
      <dgm:t>
        <a:bodyPr/>
        <a:lstStyle/>
        <a:p>
          <a:endParaRPr lang="en-US"/>
        </a:p>
      </dgm:t>
    </dgm:pt>
    <dgm:pt modelId="{6B66F350-A11B-4E7B-9991-02010AD2EBDC}" type="sibTrans" cxnId="{102FFADB-B225-4BD8-96EB-713C8E854DE2}">
      <dgm:prSet/>
      <dgm:spPr/>
      <dgm:t>
        <a:bodyPr/>
        <a:lstStyle/>
        <a:p>
          <a:endParaRPr lang="en-US"/>
        </a:p>
      </dgm:t>
    </dgm:pt>
    <dgm:pt modelId="{BEC03633-FCA0-4B13-835D-F4EB440F2689}">
      <dgm:prSet/>
      <dgm:spPr>
        <a:solidFill>
          <a:schemeClr val="bg2">
            <a:lumMod val="50000"/>
          </a:schemeClr>
        </a:solidFill>
      </dgm:spPr>
      <dgm:t>
        <a:bodyPr/>
        <a:lstStyle/>
        <a:p>
          <a:r>
            <a:rPr lang="en-US" dirty="0"/>
            <a:t>Research Problem</a:t>
          </a:r>
        </a:p>
      </dgm:t>
    </dgm:pt>
    <dgm:pt modelId="{EF77CD22-2094-403F-BCC7-F25FF73BAC18}" type="parTrans" cxnId="{7A94E6B8-8EE6-4A66-AF9D-9E4FC0E3CBA9}">
      <dgm:prSet/>
      <dgm:spPr/>
      <dgm:t>
        <a:bodyPr/>
        <a:lstStyle/>
        <a:p>
          <a:endParaRPr lang="en-US"/>
        </a:p>
      </dgm:t>
    </dgm:pt>
    <dgm:pt modelId="{DE7A2483-E045-4023-ABE9-49BADF8FBA42}" type="sibTrans" cxnId="{7A94E6B8-8EE6-4A66-AF9D-9E4FC0E3CBA9}">
      <dgm:prSet/>
      <dgm:spPr/>
      <dgm:t>
        <a:bodyPr/>
        <a:lstStyle/>
        <a:p>
          <a:endParaRPr lang="en-US"/>
        </a:p>
      </dgm:t>
    </dgm:pt>
    <dgm:pt modelId="{58DBA026-54BF-4DB6-A686-041C697FEC5A}">
      <dgm:prSet/>
      <dgm:spPr>
        <a:solidFill>
          <a:schemeClr val="bg2">
            <a:lumMod val="50000"/>
          </a:schemeClr>
        </a:solidFill>
      </dgm:spPr>
      <dgm:t>
        <a:bodyPr/>
        <a:lstStyle/>
        <a:p>
          <a:r>
            <a:rPr lang="en-US"/>
            <a:t>Research Objectives</a:t>
          </a:r>
        </a:p>
      </dgm:t>
    </dgm:pt>
    <dgm:pt modelId="{2B66E662-C7DD-4EAC-B7DE-2F9604F3325C}" type="parTrans" cxnId="{0157DF16-DA66-4782-BDAA-3519714863C5}">
      <dgm:prSet/>
      <dgm:spPr/>
      <dgm:t>
        <a:bodyPr/>
        <a:lstStyle/>
        <a:p>
          <a:endParaRPr lang="en-US"/>
        </a:p>
      </dgm:t>
    </dgm:pt>
    <dgm:pt modelId="{D75497AC-4049-4440-8A23-4C67C7E197C4}" type="sibTrans" cxnId="{0157DF16-DA66-4782-BDAA-3519714863C5}">
      <dgm:prSet/>
      <dgm:spPr/>
      <dgm:t>
        <a:bodyPr/>
        <a:lstStyle/>
        <a:p>
          <a:endParaRPr lang="en-US"/>
        </a:p>
      </dgm:t>
    </dgm:pt>
    <dgm:pt modelId="{815FCA0F-41BF-4534-B2AF-B06F7983F0C2}">
      <dgm:prSet/>
      <dgm:spPr>
        <a:solidFill>
          <a:schemeClr val="bg2">
            <a:lumMod val="50000"/>
          </a:schemeClr>
        </a:solidFill>
      </dgm:spPr>
      <dgm:t>
        <a:bodyPr/>
        <a:lstStyle/>
        <a:p>
          <a:r>
            <a:rPr lang="en-US" dirty="0"/>
            <a:t>Literature Review</a:t>
          </a:r>
        </a:p>
      </dgm:t>
    </dgm:pt>
    <dgm:pt modelId="{08A9154E-7305-4B89-8F85-4128160DF1B8}" type="parTrans" cxnId="{BCE23113-DC17-435E-913C-5E2AD0A72BCE}">
      <dgm:prSet/>
      <dgm:spPr/>
      <dgm:t>
        <a:bodyPr/>
        <a:lstStyle/>
        <a:p>
          <a:endParaRPr lang="en-US"/>
        </a:p>
      </dgm:t>
    </dgm:pt>
    <dgm:pt modelId="{D1DAE28C-BC7F-48ED-970A-4E0E79FA872C}" type="sibTrans" cxnId="{BCE23113-DC17-435E-913C-5E2AD0A72BCE}">
      <dgm:prSet/>
      <dgm:spPr/>
      <dgm:t>
        <a:bodyPr/>
        <a:lstStyle/>
        <a:p>
          <a:endParaRPr lang="en-US"/>
        </a:p>
      </dgm:t>
    </dgm:pt>
    <dgm:pt modelId="{28A7BCD9-CBAC-475D-89F3-96267DA60E26}">
      <dgm:prSet/>
      <dgm:spPr>
        <a:solidFill>
          <a:schemeClr val="bg2">
            <a:lumMod val="50000"/>
          </a:schemeClr>
        </a:solidFill>
      </dgm:spPr>
      <dgm:t>
        <a:bodyPr/>
        <a:lstStyle/>
        <a:p>
          <a:r>
            <a:rPr lang="en-US" dirty="0"/>
            <a:t>Proposed work </a:t>
          </a:r>
        </a:p>
      </dgm:t>
    </dgm:pt>
    <dgm:pt modelId="{F18DBAF2-D212-4887-8B84-D9E03E7F4AFC}" type="parTrans" cxnId="{7D463698-DB56-4F5C-81A5-87617138A9A6}">
      <dgm:prSet/>
      <dgm:spPr/>
      <dgm:t>
        <a:bodyPr/>
        <a:lstStyle/>
        <a:p>
          <a:endParaRPr lang="en-US"/>
        </a:p>
      </dgm:t>
    </dgm:pt>
    <dgm:pt modelId="{0F8B1967-2D05-4E9E-92FE-5BC59E795981}" type="sibTrans" cxnId="{7D463698-DB56-4F5C-81A5-87617138A9A6}">
      <dgm:prSet/>
      <dgm:spPr/>
      <dgm:t>
        <a:bodyPr/>
        <a:lstStyle/>
        <a:p>
          <a:endParaRPr lang="en-US"/>
        </a:p>
      </dgm:t>
    </dgm:pt>
    <dgm:pt modelId="{AD84A2D1-A30C-493B-B76A-37320447CEA3}">
      <dgm:prSet/>
      <dgm:spPr>
        <a:solidFill>
          <a:schemeClr val="bg2">
            <a:lumMod val="50000"/>
          </a:schemeClr>
        </a:solidFill>
      </dgm:spPr>
      <dgm:t>
        <a:bodyPr/>
        <a:lstStyle/>
        <a:p>
          <a:r>
            <a:rPr lang="en-US" dirty="0"/>
            <a:t>References</a:t>
          </a:r>
        </a:p>
      </dgm:t>
    </dgm:pt>
    <dgm:pt modelId="{7300A446-B93B-4FE2-AD14-2608908D4BDF}" type="parTrans" cxnId="{BECA192B-FFE9-4521-A1C5-315DBD77E0F5}">
      <dgm:prSet/>
      <dgm:spPr/>
      <dgm:t>
        <a:bodyPr/>
        <a:lstStyle/>
        <a:p>
          <a:endParaRPr lang="en-US"/>
        </a:p>
      </dgm:t>
    </dgm:pt>
    <dgm:pt modelId="{E29665E8-F271-4CD1-AA39-EC2B27B6D7B2}" type="sibTrans" cxnId="{BECA192B-FFE9-4521-A1C5-315DBD77E0F5}">
      <dgm:prSet/>
      <dgm:spPr/>
      <dgm:t>
        <a:bodyPr/>
        <a:lstStyle/>
        <a:p>
          <a:endParaRPr lang="en-US"/>
        </a:p>
      </dgm:t>
    </dgm:pt>
    <dgm:pt modelId="{0EECAE0D-B7C5-4A94-B812-3A70ADBB3EFE}" type="pres">
      <dgm:prSet presAssocID="{66A21304-BC0C-4BD0-A810-091FB7B171EC}" presName="linear" presStyleCnt="0">
        <dgm:presLayoutVars>
          <dgm:dir/>
          <dgm:animLvl val="lvl"/>
          <dgm:resizeHandles val="exact"/>
        </dgm:presLayoutVars>
      </dgm:prSet>
      <dgm:spPr/>
    </dgm:pt>
    <dgm:pt modelId="{3D11BB2D-D229-4D15-B3C5-76D34B890F91}" type="pres">
      <dgm:prSet presAssocID="{66BB4569-0DE2-439F-98F8-5F4DAA928FA3}" presName="parentLin" presStyleCnt="0"/>
      <dgm:spPr/>
    </dgm:pt>
    <dgm:pt modelId="{18F89313-F670-4113-B4C6-17E69FA0BFAC}" type="pres">
      <dgm:prSet presAssocID="{66BB4569-0DE2-439F-98F8-5F4DAA928FA3}" presName="parentLeftMargin" presStyleLbl="node1" presStyleIdx="0" presStyleCnt="6"/>
      <dgm:spPr/>
    </dgm:pt>
    <dgm:pt modelId="{8BD29621-E215-4529-9CE1-5BC924A7F11F}" type="pres">
      <dgm:prSet presAssocID="{66BB4569-0DE2-439F-98F8-5F4DAA928FA3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334F4ACC-19F1-4BEF-A158-432CF15EA27A}" type="pres">
      <dgm:prSet presAssocID="{66BB4569-0DE2-439F-98F8-5F4DAA928FA3}" presName="negativeSpace" presStyleCnt="0"/>
      <dgm:spPr/>
    </dgm:pt>
    <dgm:pt modelId="{F1A52C0F-2806-41FC-A936-00F611B9BC97}" type="pres">
      <dgm:prSet presAssocID="{66BB4569-0DE2-439F-98F8-5F4DAA928FA3}" presName="childText" presStyleLbl="conFgAcc1" presStyleIdx="0" presStyleCnt="6">
        <dgm:presLayoutVars>
          <dgm:bulletEnabled val="1"/>
        </dgm:presLayoutVars>
      </dgm:prSet>
      <dgm:spPr/>
    </dgm:pt>
    <dgm:pt modelId="{BE417241-C054-413A-A281-79B51E471529}" type="pres">
      <dgm:prSet presAssocID="{6B66F350-A11B-4E7B-9991-02010AD2EBDC}" presName="spaceBetweenRectangles" presStyleCnt="0"/>
      <dgm:spPr/>
    </dgm:pt>
    <dgm:pt modelId="{9AA958A0-16FA-4747-8022-2582093CB93B}" type="pres">
      <dgm:prSet presAssocID="{BEC03633-FCA0-4B13-835D-F4EB440F2689}" presName="parentLin" presStyleCnt="0"/>
      <dgm:spPr/>
    </dgm:pt>
    <dgm:pt modelId="{BE6938E9-1E73-41E7-A64F-A1C6DFD6DF2E}" type="pres">
      <dgm:prSet presAssocID="{BEC03633-FCA0-4B13-835D-F4EB440F2689}" presName="parentLeftMargin" presStyleLbl="node1" presStyleIdx="0" presStyleCnt="6"/>
      <dgm:spPr/>
    </dgm:pt>
    <dgm:pt modelId="{54C0D3C5-7B40-4033-90BE-D2F3966A0FE3}" type="pres">
      <dgm:prSet presAssocID="{BEC03633-FCA0-4B13-835D-F4EB440F2689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31EBA1B6-FE2D-435D-8A0A-C0418F935ED9}" type="pres">
      <dgm:prSet presAssocID="{BEC03633-FCA0-4B13-835D-F4EB440F2689}" presName="negativeSpace" presStyleCnt="0"/>
      <dgm:spPr/>
    </dgm:pt>
    <dgm:pt modelId="{D5B6F0A7-6ACD-461E-9109-04D32A7CBA8B}" type="pres">
      <dgm:prSet presAssocID="{BEC03633-FCA0-4B13-835D-F4EB440F2689}" presName="childText" presStyleLbl="conFgAcc1" presStyleIdx="1" presStyleCnt="6">
        <dgm:presLayoutVars>
          <dgm:bulletEnabled val="1"/>
        </dgm:presLayoutVars>
      </dgm:prSet>
      <dgm:spPr/>
    </dgm:pt>
    <dgm:pt modelId="{AE04064C-78A6-43AC-8087-7D4746981C99}" type="pres">
      <dgm:prSet presAssocID="{DE7A2483-E045-4023-ABE9-49BADF8FBA42}" presName="spaceBetweenRectangles" presStyleCnt="0"/>
      <dgm:spPr/>
    </dgm:pt>
    <dgm:pt modelId="{E07ED48B-A01A-4CA4-8EFC-40FF1F6F222C}" type="pres">
      <dgm:prSet presAssocID="{58DBA026-54BF-4DB6-A686-041C697FEC5A}" presName="parentLin" presStyleCnt="0"/>
      <dgm:spPr/>
    </dgm:pt>
    <dgm:pt modelId="{051B1573-F0FA-4BFE-BCD4-4152D1B3CD03}" type="pres">
      <dgm:prSet presAssocID="{58DBA026-54BF-4DB6-A686-041C697FEC5A}" presName="parentLeftMargin" presStyleLbl="node1" presStyleIdx="1" presStyleCnt="6"/>
      <dgm:spPr/>
    </dgm:pt>
    <dgm:pt modelId="{C78F4007-642E-4BC8-BF0A-F02518DB3637}" type="pres">
      <dgm:prSet presAssocID="{58DBA026-54BF-4DB6-A686-041C697FEC5A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48831527-90E4-4129-B8A0-6446DB6E78DE}" type="pres">
      <dgm:prSet presAssocID="{58DBA026-54BF-4DB6-A686-041C697FEC5A}" presName="negativeSpace" presStyleCnt="0"/>
      <dgm:spPr/>
    </dgm:pt>
    <dgm:pt modelId="{50E4814C-137E-4160-BFFA-F9F56CAD2AED}" type="pres">
      <dgm:prSet presAssocID="{58DBA026-54BF-4DB6-A686-041C697FEC5A}" presName="childText" presStyleLbl="conFgAcc1" presStyleIdx="2" presStyleCnt="6">
        <dgm:presLayoutVars>
          <dgm:bulletEnabled val="1"/>
        </dgm:presLayoutVars>
      </dgm:prSet>
      <dgm:spPr/>
    </dgm:pt>
    <dgm:pt modelId="{753A68A8-B05E-4462-B809-96867236BA47}" type="pres">
      <dgm:prSet presAssocID="{D75497AC-4049-4440-8A23-4C67C7E197C4}" presName="spaceBetweenRectangles" presStyleCnt="0"/>
      <dgm:spPr/>
    </dgm:pt>
    <dgm:pt modelId="{A3EB40DE-A991-4B91-9D99-F999CA2FBE30}" type="pres">
      <dgm:prSet presAssocID="{815FCA0F-41BF-4534-B2AF-B06F7983F0C2}" presName="parentLin" presStyleCnt="0"/>
      <dgm:spPr/>
    </dgm:pt>
    <dgm:pt modelId="{0E652FA4-A22A-4521-8236-06C054D83A0C}" type="pres">
      <dgm:prSet presAssocID="{815FCA0F-41BF-4534-B2AF-B06F7983F0C2}" presName="parentLeftMargin" presStyleLbl="node1" presStyleIdx="2" presStyleCnt="6"/>
      <dgm:spPr/>
    </dgm:pt>
    <dgm:pt modelId="{8EC9F250-BF37-49A9-B112-A3973E28EFB7}" type="pres">
      <dgm:prSet presAssocID="{815FCA0F-41BF-4534-B2AF-B06F7983F0C2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17DB9EDB-3452-4804-AC1D-C6F64CA823B2}" type="pres">
      <dgm:prSet presAssocID="{815FCA0F-41BF-4534-B2AF-B06F7983F0C2}" presName="negativeSpace" presStyleCnt="0"/>
      <dgm:spPr/>
    </dgm:pt>
    <dgm:pt modelId="{F38AFDF7-2097-40FA-81BF-F8331A09AE8E}" type="pres">
      <dgm:prSet presAssocID="{815FCA0F-41BF-4534-B2AF-B06F7983F0C2}" presName="childText" presStyleLbl="conFgAcc1" presStyleIdx="3" presStyleCnt="6">
        <dgm:presLayoutVars>
          <dgm:bulletEnabled val="1"/>
        </dgm:presLayoutVars>
      </dgm:prSet>
      <dgm:spPr/>
    </dgm:pt>
    <dgm:pt modelId="{B70D6136-AAFB-4BC1-B874-46C8E93E0008}" type="pres">
      <dgm:prSet presAssocID="{D1DAE28C-BC7F-48ED-970A-4E0E79FA872C}" presName="spaceBetweenRectangles" presStyleCnt="0"/>
      <dgm:spPr/>
    </dgm:pt>
    <dgm:pt modelId="{3E1B4170-E141-4F98-B51A-F8E5A8376469}" type="pres">
      <dgm:prSet presAssocID="{28A7BCD9-CBAC-475D-89F3-96267DA60E26}" presName="parentLin" presStyleCnt="0"/>
      <dgm:spPr/>
    </dgm:pt>
    <dgm:pt modelId="{DB592F89-9D84-4025-82D6-750D095AC047}" type="pres">
      <dgm:prSet presAssocID="{28A7BCD9-CBAC-475D-89F3-96267DA60E26}" presName="parentLeftMargin" presStyleLbl="node1" presStyleIdx="3" presStyleCnt="6"/>
      <dgm:spPr/>
    </dgm:pt>
    <dgm:pt modelId="{FF6BEEE8-5430-4D77-B181-A93DDA34B65E}" type="pres">
      <dgm:prSet presAssocID="{28A7BCD9-CBAC-475D-89F3-96267DA60E26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D3570776-5F56-42BB-BC03-F91AC99A7947}" type="pres">
      <dgm:prSet presAssocID="{28A7BCD9-CBAC-475D-89F3-96267DA60E26}" presName="negativeSpace" presStyleCnt="0"/>
      <dgm:spPr/>
    </dgm:pt>
    <dgm:pt modelId="{FA3EF47E-E221-47C4-A712-DAE7C945654B}" type="pres">
      <dgm:prSet presAssocID="{28A7BCD9-CBAC-475D-89F3-96267DA60E26}" presName="childText" presStyleLbl="conFgAcc1" presStyleIdx="4" presStyleCnt="6">
        <dgm:presLayoutVars>
          <dgm:bulletEnabled val="1"/>
        </dgm:presLayoutVars>
      </dgm:prSet>
      <dgm:spPr/>
    </dgm:pt>
    <dgm:pt modelId="{1D31D6F5-503D-42C3-9750-DD9E93A17125}" type="pres">
      <dgm:prSet presAssocID="{0F8B1967-2D05-4E9E-92FE-5BC59E795981}" presName="spaceBetweenRectangles" presStyleCnt="0"/>
      <dgm:spPr/>
    </dgm:pt>
    <dgm:pt modelId="{78333F4F-3A5F-46B2-80C5-3073C75675A0}" type="pres">
      <dgm:prSet presAssocID="{AD84A2D1-A30C-493B-B76A-37320447CEA3}" presName="parentLin" presStyleCnt="0"/>
      <dgm:spPr/>
    </dgm:pt>
    <dgm:pt modelId="{22E15F37-044B-41FF-8898-1570177F6927}" type="pres">
      <dgm:prSet presAssocID="{AD84A2D1-A30C-493B-B76A-37320447CEA3}" presName="parentLeftMargin" presStyleLbl="node1" presStyleIdx="4" presStyleCnt="6"/>
      <dgm:spPr/>
    </dgm:pt>
    <dgm:pt modelId="{7966504B-C15F-46C4-8363-D11ED9FFE9A0}" type="pres">
      <dgm:prSet presAssocID="{AD84A2D1-A30C-493B-B76A-37320447CEA3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61AC503A-13C5-4F78-B00A-4200224F85CE}" type="pres">
      <dgm:prSet presAssocID="{AD84A2D1-A30C-493B-B76A-37320447CEA3}" presName="negativeSpace" presStyleCnt="0"/>
      <dgm:spPr/>
    </dgm:pt>
    <dgm:pt modelId="{EDE0ED56-7521-4C77-80D9-34BA4B3AA4A1}" type="pres">
      <dgm:prSet presAssocID="{AD84A2D1-A30C-493B-B76A-37320447CEA3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BCE23113-DC17-435E-913C-5E2AD0A72BCE}" srcId="{66A21304-BC0C-4BD0-A810-091FB7B171EC}" destId="{815FCA0F-41BF-4534-B2AF-B06F7983F0C2}" srcOrd="3" destOrd="0" parTransId="{08A9154E-7305-4B89-8F85-4128160DF1B8}" sibTransId="{D1DAE28C-BC7F-48ED-970A-4E0E79FA872C}"/>
    <dgm:cxn modelId="{0157DF16-DA66-4782-BDAA-3519714863C5}" srcId="{66A21304-BC0C-4BD0-A810-091FB7B171EC}" destId="{58DBA026-54BF-4DB6-A686-041C697FEC5A}" srcOrd="2" destOrd="0" parTransId="{2B66E662-C7DD-4EAC-B7DE-2F9604F3325C}" sibTransId="{D75497AC-4049-4440-8A23-4C67C7E197C4}"/>
    <dgm:cxn modelId="{BECA192B-FFE9-4521-A1C5-315DBD77E0F5}" srcId="{66A21304-BC0C-4BD0-A810-091FB7B171EC}" destId="{AD84A2D1-A30C-493B-B76A-37320447CEA3}" srcOrd="5" destOrd="0" parTransId="{7300A446-B93B-4FE2-AD14-2608908D4BDF}" sibTransId="{E29665E8-F271-4CD1-AA39-EC2B27B6D7B2}"/>
    <dgm:cxn modelId="{0372E934-613A-4321-A7D9-3C11E5CB80E2}" type="presOf" srcId="{815FCA0F-41BF-4534-B2AF-B06F7983F0C2}" destId="{0E652FA4-A22A-4521-8236-06C054D83A0C}" srcOrd="0" destOrd="0" presId="urn:microsoft.com/office/officeart/2005/8/layout/list1"/>
    <dgm:cxn modelId="{391A5E43-A9F4-429B-9362-7D3E11344C71}" type="presOf" srcId="{66BB4569-0DE2-439F-98F8-5F4DAA928FA3}" destId="{18F89313-F670-4113-B4C6-17E69FA0BFAC}" srcOrd="0" destOrd="0" presId="urn:microsoft.com/office/officeart/2005/8/layout/list1"/>
    <dgm:cxn modelId="{78FCA849-A655-4972-998C-F611DF904204}" type="presOf" srcId="{66BB4569-0DE2-439F-98F8-5F4DAA928FA3}" destId="{8BD29621-E215-4529-9CE1-5BC924A7F11F}" srcOrd="1" destOrd="0" presId="urn:microsoft.com/office/officeart/2005/8/layout/list1"/>
    <dgm:cxn modelId="{FB90274B-7041-439E-8862-2293C292D0AB}" type="presOf" srcId="{66A21304-BC0C-4BD0-A810-091FB7B171EC}" destId="{0EECAE0D-B7C5-4A94-B812-3A70ADBB3EFE}" srcOrd="0" destOrd="0" presId="urn:microsoft.com/office/officeart/2005/8/layout/list1"/>
    <dgm:cxn modelId="{F264C27E-AE18-4A02-9A7C-67B3FFF522BA}" type="presOf" srcId="{BEC03633-FCA0-4B13-835D-F4EB440F2689}" destId="{54C0D3C5-7B40-4033-90BE-D2F3966A0FE3}" srcOrd="1" destOrd="0" presId="urn:microsoft.com/office/officeart/2005/8/layout/list1"/>
    <dgm:cxn modelId="{1F41EF7E-4A72-434A-A2B4-BF66579CD3E7}" type="presOf" srcId="{AD84A2D1-A30C-493B-B76A-37320447CEA3}" destId="{7966504B-C15F-46C4-8363-D11ED9FFE9A0}" srcOrd="1" destOrd="0" presId="urn:microsoft.com/office/officeart/2005/8/layout/list1"/>
    <dgm:cxn modelId="{31B6D488-27A7-4B89-83EC-A6BD5A769E07}" type="presOf" srcId="{BEC03633-FCA0-4B13-835D-F4EB440F2689}" destId="{BE6938E9-1E73-41E7-A64F-A1C6DFD6DF2E}" srcOrd="0" destOrd="0" presId="urn:microsoft.com/office/officeart/2005/8/layout/list1"/>
    <dgm:cxn modelId="{F5F0608B-2558-446F-A6FA-10346DE41345}" type="presOf" srcId="{28A7BCD9-CBAC-475D-89F3-96267DA60E26}" destId="{FF6BEEE8-5430-4D77-B181-A93DDA34B65E}" srcOrd="1" destOrd="0" presId="urn:microsoft.com/office/officeart/2005/8/layout/list1"/>
    <dgm:cxn modelId="{7D463698-DB56-4F5C-81A5-87617138A9A6}" srcId="{66A21304-BC0C-4BD0-A810-091FB7B171EC}" destId="{28A7BCD9-CBAC-475D-89F3-96267DA60E26}" srcOrd="4" destOrd="0" parTransId="{F18DBAF2-D212-4887-8B84-D9E03E7F4AFC}" sibTransId="{0F8B1967-2D05-4E9E-92FE-5BC59E795981}"/>
    <dgm:cxn modelId="{7A94E6B8-8EE6-4A66-AF9D-9E4FC0E3CBA9}" srcId="{66A21304-BC0C-4BD0-A810-091FB7B171EC}" destId="{BEC03633-FCA0-4B13-835D-F4EB440F2689}" srcOrd="1" destOrd="0" parTransId="{EF77CD22-2094-403F-BCC7-F25FF73BAC18}" sibTransId="{DE7A2483-E045-4023-ABE9-49BADF8FBA42}"/>
    <dgm:cxn modelId="{820B52BB-9F4D-4813-BACE-FADEA943FB3A}" type="presOf" srcId="{815FCA0F-41BF-4534-B2AF-B06F7983F0C2}" destId="{8EC9F250-BF37-49A9-B112-A3973E28EFB7}" srcOrd="1" destOrd="0" presId="urn:microsoft.com/office/officeart/2005/8/layout/list1"/>
    <dgm:cxn modelId="{609F4AC0-C845-4143-94DC-08A6E7DB40D2}" type="presOf" srcId="{AD84A2D1-A30C-493B-B76A-37320447CEA3}" destId="{22E15F37-044B-41FF-8898-1570177F6927}" srcOrd="0" destOrd="0" presId="urn:microsoft.com/office/officeart/2005/8/layout/list1"/>
    <dgm:cxn modelId="{102FFADB-B225-4BD8-96EB-713C8E854DE2}" srcId="{66A21304-BC0C-4BD0-A810-091FB7B171EC}" destId="{66BB4569-0DE2-439F-98F8-5F4DAA928FA3}" srcOrd="0" destOrd="0" parTransId="{7472321F-EFBA-4D9A-9224-E363112F73D9}" sibTransId="{6B66F350-A11B-4E7B-9991-02010AD2EBDC}"/>
    <dgm:cxn modelId="{5DEF81DC-B745-4CE7-A5D3-48033E94CB0E}" type="presOf" srcId="{58DBA026-54BF-4DB6-A686-041C697FEC5A}" destId="{051B1573-F0FA-4BFE-BCD4-4152D1B3CD03}" srcOrd="0" destOrd="0" presId="urn:microsoft.com/office/officeart/2005/8/layout/list1"/>
    <dgm:cxn modelId="{4DB902E2-FEC5-42E5-A0FE-D83A0B4426DB}" type="presOf" srcId="{58DBA026-54BF-4DB6-A686-041C697FEC5A}" destId="{C78F4007-642E-4BC8-BF0A-F02518DB3637}" srcOrd="1" destOrd="0" presId="urn:microsoft.com/office/officeart/2005/8/layout/list1"/>
    <dgm:cxn modelId="{2BA885FC-37D9-4F8F-8830-CB06D7907721}" type="presOf" srcId="{28A7BCD9-CBAC-475D-89F3-96267DA60E26}" destId="{DB592F89-9D84-4025-82D6-750D095AC047}" srcOrd="0" destOrd="0" presId="urn:microsoft.com/office/officeart/2005/8/layout/list1"/>
    <dgm:cxn modelId="{ED57D346-BDDC-4681-90FE-C35D26F99AD7}" type="presParOf" srcId="{0EECAE0D-B7C5-4A94-B812-3A70ADBB3EFE}" destId="{3D11BB2D-D229-4D15-B3C5-76D34B890F91}" srcOrd="0" destOrd="0" presId="urn:microsoft.com/office/officeart/2005/8/layout/list1"/>
    <dgm:cxn modelId="{032644D8-0922-40F4-A836-D9B44BF6F5CD}" type="presParOf" srcId="{3D11BB2D-D229-4D15-B3C5-76D34B890F91}" destId="{18F89313-F670-4113-B4C6-17E69FA0BFAC}" srcOrd="0" destOrd="0" presId="urn:microsoft.com/office/officeart/2005/8/layout/list1"/>
    <dgm:cxn modelId="{E824637F-4DFD-4CF4-BFF6-FF1FD855F999}" type="presParOf" srcId="{3D11BB2D-D229-4D15-B3C5-76D34B890F91}" destId="{8BD29621-E215-4529-9CE1-5BC924A7F11F}" srcOrd="1" destOrd="0" presId="urn:microsoft.com/office/officeart/2005/8/layout/list1"/>
    <dgm:cxn modelId="{EAC48FD8-3CDA-4756-B3A1-E96BE5956BED}" type="presParOf" srcId="{0EECAE0D-B7C5-4A94-B812-3A70ADBB3EFE}" destId="{334F4ACC-19F1-4BEF-A158-432CF15EA27A}" srcOrd="1" destOrd="0" presId="urn:microsoft.com/office/officeart/2005/8/layout/list1"/>
    <dgm:cxn modelId="{F14CB99F-1F2C-4A40-BD93-2601084479C6}" type="presParOf" srcId="{0EECAE0D-B7C5-4A94-B812-3A70ADBB3EFE}" destId="{F1A52C0F-2806-41FC-A936-00F611B9BC97}" srcOrd="2" destOrd="0" presId="urn:microsoft.com/office/officeart/2005/8/layout/list1"/>
    <dgm:cxn modelId="{302F3FBE-64F8-499C-8ABD-288118C33D60}" type="presParOf" srcId="{0EECAE0D-B7C5-4A94-B812-3A70ADBB3EFE}" destId="{BE417241-C054-413A-A281-79B51E471529}" srcOrd="3" destOrd="0" presId="urn:microsoft.com/office/officeart/2005/8/layout/list1"/>
    <dgm:cxn modelId="{6DE2FC4F-19E5-4054-9308-B210D0CBF19B}" type="presParOf" srcId="{0EECAE0D-B7C5-4A94-B812-3A70ADBB3EFE}" destId="{9AA958A0-16FA-4747-8022-2582093CB93B}" srcOrd="4" destOrd="0" presId="urn:microsoft.com/office/officeart/2005/8/layout/list1"/>
    <dgm:cxn modelId="{99D183E1-AA68-4084-BD1C-8A7126E566D8}" type="presParOf" srcId="{9AA958A0-16FA-4747-8022-2582093CB93B}" destId="{BE6938E9-1E73-41E7-A64F-A1C6DFD6DF2E}" srcOrd="0" destOrd="0" presId="urn:microsoft.com/office/officeart/2005/8/layout/list1"/>
    <dgm:cxn modelId="{6A8264A5-7D69-4073-945B-363C622DAA3C}" type="presParOf" srcId="{9AA958A0-16FA-4747-8022-2582093CB93B}" destId="{54C0D3C5-7B40-4033-90BE-D2F3966A0FE3}" srcOrd="1" destOrd="0" presId="urn:microsoft.com/office/officeart/2005/8/layout/list1"/>
    <dgm:cxn modelId="{7F37F298-DEC0-48D2-B81F-69E812F11808}" type="presParOf" srcId="{0EECAE0D-B7C5-4A94-B812-3A70ADBB3EFE}" destId="{31EBA1B6-FE2D-435D-8A0A-C0418F935ED9}" srcOrd="5" destOrd="0" presId="urn:microsoft.com/office/officeart/2005/8/layout/list1"/>
    <dgm:cxn modelId="{15D4623D-81B2-4E9E-9EFA-05AAC3F0C862}" type="presParOf" srcId="{0EECAE0D-B7C5-4A94-B812-3A70ADBB3EFE}" destId="{D5B6F0A7-6ACD-461E-9109-04D32A7CBA8B}" srcOrd="6" destOrd="0" presId="urn:microsoft.com/office/officeart/2005/8/layout/list1"/>
    <dgm:cxn modelId="{1399F656-9BDB-4355-B790-A8D143F5CF8F}" type="presParOf" srcId="{0EECAE0D-B7C5-4A94-B812-3A70ADBB3EFE}" destId="{AE04064C-78A6-43AC-8087-7D4746981C99}" srcOrd="7" destOrd="0" presId="urn:microsoft.com/office/officeart/2005/8/layout/list1"/>
    <dgm:cxn modelId="{6D93B6C7-E9D7-4BB6-82BC-601509CDBCC4}" type="presParOf" srcId="{0EECAE0D-B7C5-4A94-B812-3A70ADBB3EFE}" destId="{E07ED48B-A01A-4CA4-8EFC-40FF1F6F222C}" srcOrd="8" destOrd="0" presId="urn:microsoft.com/office/officeart/2005/8/layout/list1"/>
    <dgm:cxn modelId="{294B1E02-4DB7-4AD7-AB10-3D16F93311F5}" type="presParOf" srcId="{E07ED48B-A01A-4CA4-8EFC-40FF1F6F222C}" destId="{051B1573-F0FA-4BFE-BCD4-4152D1B3CD03}" srcOrd="0" destOrd="0" presId="urn:microsoft.com/office/officeart/2005/8/layout/list1"/>
    <dgm:cxn modelId="{D3890C67-1227-4195-834E-0C163C355869}" type="presParOf" srcId="{E07ED48B-A01A-4CA4-8EFC-40FF1F6F222C}" destId="{C78F4007-642E-4BC8-BF0A-F02518DB3637}" srcOrd="1" destOrd="0" presId="urn:microsoft.com/office/officeart/2005/8/layout/list1"/>
    <dgm:cxn modelId="{39A0A1AC-0329-47E4-A117-9D3512273573}" type="presParOf" srcId="{0EECAE0D-B7C5-4A94-B812-3A70ADBB3EFE}" destId="{48831527-90E4-4129-B8A0-6446DB6E78DE}" srcOrd="9" destOrd="0" presId="urn:microsoft.com/office/officeart/2005/8/layout/list1"/>
    <dgm:cxn modelId="{4FFFEFAE-3C3D-4732-8A98-EF509BB503A8}" type="presParOf" srcId="{0EECAE0D-B7C5-4A94-B812-3A70ADBB3EFE}" destId="{50E4814C-137E-4160-BFFA-F9F56CAD2AED}" srcOrd="10" destOrd="0" presId="urn:microsoft.com/office/officeart/2005/8/layout/list1"/>
    <dgm:cxn modelId="{F636983A-5E02-4A31-9966-633050A40068}" type="presParOf" srcId="{0EECAE0D-B7C5-4A94-B812-3A70ADBB3EFE}" destId="{753A68A8-B05E-4462-B809-96867236BA47}" srcOrd="11" destOrd="0" presId="urn:microsoft.com/office/officeart/2005/8/layout/list1"/>
    <dgm:cxn modelId="{8B445FA0-1690-4D59-8DC8-F5D1F0770E47}" type="presParOf" srcId="{0EECAE0D-B7C5-4A94-B812-3A70ADBB3EFE}" destId="{A3EB40DE-A991-4B91-9D99-F999CA2FBE30}" srcOrd="12" destOrd="0" presId="urn:microsoft.com/office/officeart/2005/8/layout/list1"/>
    <dgm:cxn modelId="{413ECF84-5999-411A-8ACC-E4AAB76ADF28}" type="presParOf" srcId="{A3EB40DE-A991-4B91-9D99-F999CA2FBE30}" destId="{0E652FA4-A22A-4521-8236-06C054D83A0C}" srcOrd="0" destOrd="0" presId="urn:microsoft.com/office/officeart/2005/8/layout/list1"/>
    <dgm:cxn modelId="{13AD4C1B-E652-4438-9019-259A7E4CAF34}" type="presParOf" srcId="{A3EB40DE-A991-4B91-9D99-F999CA2FBE30}" destId="{8EC9F250-BF37-49A9-B112-A3973E28EFB7}" srcOrd="1" destOrd="0" presId="urn:microsoft.com/office/officeart/2005/8/layout/list1"/>
    <dgm:cxn modelId="{20B4D84A-56E8-4039-BDDE-A83008E90633}" type="presParOf" srcId="{0EECAE0D-B7C5-4A94-B812-3A70ADBB3EFE}" destId="{17DB9EDB-3452-4804-AC1D-C6F64CA823B2}" srcOrd="13" destOrd="0" presId="urn:microsoft.com/office/officeart/2005/8/layout/list1"/>
    <dgm:cxn modelId="{17622AF1-44CA-460F-AA8C-A4FAB1833A24}" type="presParOf" srcId="{0EECAE0D-B7C5-4A94-B812-3A70ADBB3EFE}" destId="{F38AFDF7-2097-40FA-81BF-F8331A09AE8E}" srcOrd="14" destOrd="0" presId="urn:microsoft.com/office/officeart/2005/8/layout/list1"/>
    <dgm:cxn modelId="{0B8CB231-6CA9-436C-AC4D-F9E5DCEF10D1}" type="presParOf" srcId="{0EECAE0D-B7C5-4A94-B812-3A70ADBB3EFE}" destId="{B70D6136-AAFB-4BC1-B874-46C8E93E0008}" srcOrd="15" destOrd="0" presId="urn:microsoft.com/office/officeart/2005/8/layout/list1"/>
    <dgm:cxn modelId="{4F237D88-3D10-4DC4-90C4-C4BC75E559EE}" type="presParOf" srcId="{0EECAE0D-B7C5-4A94-B812-3A70ADBB3EFE}" destId="{3E1B4170-E141-4F98-B51A-F8E5A8376469}" srcOrd="16" destOrd="0" presId="urn:microsoft.com/office/officeart/2005/8/layout/list1"/>
    <dgm:cxn modelId="{7778D22E-7F1D-4A3B-90D9-DAB977BE7261}" type="presParOf" srcId="{3E1B4170-E141-4F98-B51A-F8E5A8376469}" destId="{DB592F89-9D84-4025-82D6-750D095AC047}" srcOrd="0" destOrd="0" presId="urn:microsoft.com/office/officeart/2005/8/layout/list1"/>
    <dgm:cxn modelId="{02FD7E77-B48D-46B6-A136-D3B9F4179C72}" type="presParOf" srcId="{3E1B4170-E141-4F98-B51A-F8E5A8376469}" destId="{FF6BEEE8-5430-4D77-B181-A93DDA34B65E}" srcOrd="1" destOrd="0" presId="urn:microsoft.com/office/officeart/2005/8/layout/list1"/>
    <dgm:cxn modelId="{B38E5135-965B-471A-B7E2-5B9DECCD6E2C}" type="presParOf" srcId="{0EECAE0D-B7C5-4A94-B812-3A70ADBB3EFE}" destId="{D3570776-5F56-42BB-BC03-F91AC99A7947}" srcOrd="17" destOrd="0" presId="urn:microsoft.com/office/officeart/2005/8/layout/list1"/>
    <dgm:cxn modelId="{624C8BC1-499B-4BF1-BA9D-753931BBC071}" type="presParOf" srcId="{0EECAE0D-B7C5-4A94-B812-3A70ADBB3EFE}" destId="{FA3EF47E-E221-47C4-A712-DAE7C945654B}" srcOrd="18" destOrd="0" presId="urn:microsoft.com/office/officeart/2005/8/layout/list1"/>
    <dgm:cxn modelId="{B1EDB612-6DB4-42FF-A179-633AB80AA4C8}" type="presParOf" srcId="{0EECAE0D-B7C5-4A94-B812-3A70ADBB3EFE}" destId="{1D31D6F5-503D-42C3-9750-DD9E93A17125}" srcOrd="19" destOrd="0" presId="urn:microsoft.com/office/officeart/2005/8/layout/list1"/>
    <dgm:cxn modelId="{961A7AB6-C453-4376-AE16-774AE59300E4}" type="presParOf" srcId="{0EECAE0D-B7C5-4A94-B812-3A70ADBB3EFE}" destId="{78333F4F-3A5F-46B2-80C5-3073C75675A0}" srcOrd="20" destOrd="0" presId="urn:microsoft.com/office/officeart/2005/8/layout/list1"/>
    <dgm:cxn modelId="{248EA905-6BBC-4374-A45A-11ACDC12E93C}" type="presParOf" srcId="{78333F4F-3A5F-46B2-80C5-3073C75675A0}" destId="{22E15F37-044B-41FF-8898-1570177F6927}" srcOrd="0" destOrd="0" presId="urn:microsoft.com/office/officeart/2005/8/layout/list1"/>
    <dgm:cxn modelId="{8D6C038E-1BFF-4B28-84CB-E33EC516B6A2}" type="presParOf" srcId="{78333F4F-3A5F-46B2-80C5-3073C75675A0}" destId="{7966504B-C15F-46C4-8363-D11ED9FFE9A0}" srcOrd="1" destOrd="0" presId="urn:microsoft.com/office/officeart/2005/8/layout/list1"/>
    <dgm:cxn modelId="{CF5A24D6-7052-4667-81FE-FD4A4886F463}" type="presParOf" srcId="{0EECAE0D-B7C5-4A94-B812-3A70ADBB3EFE}" destId="{61AC503A-13C5-4F78-B00A-4200224F85CE}" srcOrd="21" destOrd="0" presId="urn:microsoft.com/office/officeart/2005/8/layout/list1"/>
    <dgm:cxn modelId="{1C8F2546-8E67-4634-81B5-B2AAD685EBA5}" type="presParOf" srcId="{0EECAE0D-B7C5-4A94-B812-3A70ADBB3EFE}" destId="{EDE0ED56-7521-4C77-80D9-34BA4B3AA4A1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A52C0F-2806-41FC-A936-00F611B9BC97}">
      <dsp:nvSpPr>
        <dsp:cNvPr id="0" name=""/>
        <dsp:cNvSpPr/>
      </dsp:nvSpPr>
      <dsp:spPr>
        <a:xfrm>
          <a:off x="0" y="232062"/>
          <a:ext cx="10058399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D29621-E215-4529-9CE1-5BC924A7F11F}">
      <dsp:nvSpPr>
        <dsp:cNvPr id="0" name=""/>
        <dsp:cNvSpPr/>
      </dsp:nvSpPr>
      <dsp:spPr>
        <a:xfrm>
          <a:off x="502920" y="10662"/>
          <a:ext cx="7040880" cy="442800"/>
        </a:xfrm>
        <a:prstGeom prst="roundRect">
          <a:avLst/>
        </a:prstGeom>
        <a:solidFill>
          <a:schemeClr val="bg2">
            <a:lumMod val="5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129" tIns="0" rIns="266129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Introduction</a:t>
          </a:r>
        </a:p>
      </dsp:txBody>
      <dsp:txXfrm>
        <a:off x="524536" y="32278"/>
        <a:ext cx="6997648" cy="399568"/>
      </dsp:txXfrm>
    </dsp:sp>
    <dsp:sp modelId="{D5B6F0A7-6ACD-461E-9109-04D32A7CBA8B}">
      <dsp:nvSpPr>
        <dsp:cNvPr id="0" name=""/>
        <dsp:cNvSpPr/>
      </dsp:nvSpPr>
      <dsp:spPr>
        <a:xfrm>
          <a:off x="0" y="912462"/>
          <a:ext cx="10058399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C0D3C5-7B40-4033-90BE-D2F3966A0FE3}">
      <dsp:nvSpPr>
        <dsp:cNvPr id="0" name=""/>
        <dsp:cNvSpPr/>
      </dsp:nvSpPr>
      <dsp:spPr>
        <a:xfrm>
          <a:off x="502920" y="691062"/>
          <a:ext cx="7040880" cy="442800"/>
        </a:xfrm>
        <a:prstGeom prst="roundRect">
          <a:avLst/>
        </a:prstGeom>
        <a:solidFill>
          <a:schemeClr val="bg2">
            <a:lumMod val="5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129" tIns="0" rIns="266129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Research Problem</a:t>
          </a:r>
        </a:p>
      </dsp:txBody>
      <dsp:txXfrm>
        <a:off x="524536" y="712678"/>
        <a:ext cx="6997648" cy="399568"/>
      </dsp:txXfrm>
    </dsp:sp>
    <dsp:sp modelId="{50E4814C-137E-4160-BFFA-F9F56CAD2AED}">
      <dsp:nvSpPr>
        <dsp:cNvPr id="0" name=""/>
        <dsp:cNvSpPr/>
      </dsp:nvSpPr>
      <dsp:spPr>
        <a:xfrm>
          <a:off x="0" y="1592862"/>
          <a:ext cx="10058399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8F4007-642E-4BC8-BF0A-F02518DB3637}">
      <dsp:nvSpPr>
        <dsp:cNvPr id="0" name=""/>
        <dsp:cNvSpPr/>
      </dsp:nvSpPr>
      <dsp:spPr>
        <a:xfrm>
          <a:off x="502920" y="1371462"/>
          <a:ext cx="7040880" cy="442800"/>
        </a:xfrm>
        <a:prstGeom prst="roundRect">
          <a:avLst/>
        </a:prstGeom>
        <a:solidFill>
          <a:schemeClr val="bg2">
            <a:lumMod val="5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129" tIns="0" rIns="266129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Research Objectives</a:t>
          </a:r>
        </a:p>
      </dsp:txBody>
      <dsp:txXfrm>
        <a:off x="524536" y="1393078"/>
        <a:ext cx="6997648" cy="399568"/>
      </dsp:txXfrm>
    </dsp:sp>
    <dsp:sp modelId="{F38AFDF7-2097-40FA-81BF-F8331A09AE8E}">
      <dsp:nvSpPr>
        <dsp:cNvPr id="0" name=""/>
        <dsp:cNvSpPr/>
      </dsp:nvSpPr>
      <dsp:spPr>
        <a:xfrm>
          <a:off x="0" y="2273262"/>
          <a:ext cx="10058399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C9F250-BF37-49A9-B112-A3973E28EFB7}">
      <dsp:nvSpPr>
        <dsp:cNvPr id="0" name=""/>
        <dsp:cNvSpPr/>
      </dsp:nvSpPr>
      <dsp:spPr>
        <a:xfrm>
          <a:off x="502920" y="2051862"/>
          <a:ext cx="7040880" cy="442800"/>
        </a:xfrm>
        <a:prstGeom prst="roundRect">
          <a:avLst/>
        </a:prstGeom>
        <a:solidFill>
          <a:schemeClr val="bg2">
            <a:lumMod val="5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129" tIns="0" rIns="266129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Literature Review</a:t>
          </a:r>
        </a:p>
      </dsp:txBody>
      <dsp:txXfrm>
        <a:off x="524536" y="2073478"/>
        <a:ext cx="6997648" cy="399568"/>
      </dsp:txXfrm>
    </dsp:sp>
    <dsp:sp modelId="{FA3EF47E-E221-47C4-A712-DAE7C945654B}">
      <dsp:nvSpPr>
        <dsp:cNvPr id="0" name=""/>
        <dsp:cNvSpPr/>
      </dsp:nvSpPr>
      <dsp:spPr>
        <a:xfrm>
          <a:off x="0" y="2953662"/>
          <a:ext cx="10058399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6BEEE8-5430-4D77-B181-A93DDA34B65E}">
      <dsp:nvSpPr>
        <dsp:cNvPr id="0" name=""/>
        <dsp:cNvSpPr/>
      </dsp:nvSpPr>
      <dsp:spPr>
        <a:xfrm>
          <a:off x="502920" y="2732262"/>
          <a:ext cx="7040880" cy="442800"/>
        </a:xfrm>
        <a:prstGeom prst="roundRect">
          <a:avLst/>
        </a:prstGeom>
        <a:solidFill>
          <a:schemeClr val="bg2">
            <a:lumMod val="5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129" tIns="0" rIns="266129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Proposed work </a:t>
          </a:r>
        </a:p>
      </dsp:txBody>
      <dsp:txXfrm>
        <a:off x="524536" y="2753878"/>
        <a:ext cx="6997648" cy="399568"/>
      </dsp:txXfrm>
    </dsp:sp>
    <dsp:sp modelId="{EDE0ED56-7521-4C77-80D9-34BA4B3AA4A1}">
      <dsp:nvSpPr>
        <dsp:cNvPr id="0" name=""/>
        <dsp:cNvSpPr/>
      </dsp:nvSpPr>
      <dsp:spPr>
        <a:xfrm>
          <a:off x="0" y="3634062"/>
          <a:ext cx="10058399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66504B-C15F-46C4-8363-D11ED9FFE9A0}">
      <dsp:nvSpPr>
        <dsp:cNvPr id="0" name=""/>
        <dsp:cNvSpPr/>
      </dsp:nvSpPr>
      <dsp:spPr>
        <a:xfrm>
          <a:off x="502920" y="3412662"/>
          <a:ext cx="7040880" cy="442800"/>
        </a:xfrm>
        <a:prstGeom prst="roundRect">
          <a:avLst/>
        </a:prstGeom>
        <a:solidFill>
          <a:schemeClr val="bg2">
            <a:lumMod val="5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129" tIns="0" rIns="266129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References</a:t>
          </a:r>
        </a:p>
      </dsp:txBody>
      <dsp:txXfrm>
        <a:off x="524536" y="3434278"/>
        <a:ext cx="6997648" cy="3995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3E9AD-DE19-44CD-B18E-CA7C2FC2F9DB}" type="datetimeFigureOut">
              <a:rPr lang="en-GB" smtClean="0"/>
              <a:t>03/08/2025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AAEBE-2365-4012-8627-E6520EE033A1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4468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3E9AD-DE19-44CD-B18E-CA7C2FC2F9DB}" type="datetimeFigureOut">
              <a:rPr lang="en-GB" smtClean="0"/>
              <a:t>03/08/2025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AAEBE-2365-4012-8627-E6520EE033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4133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3E9AD-DE19-44CD-B18E-CA7C2FC2F9DB}" type="datetimeFigureOut">
              <a:rPr lang="en-GB" smtClean="0"/>
              <a:t>03/08/2025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AAEBE-2365-4012-8627-E6520EE033A1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8730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3E9AD-DE19-44CD-B18E-CA7C2FC2F9DB}" type="datetimeFigureOut">
              <a:rPr lang="en-GB" smtClean="0"/>
              <a:t>03/08/2025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AAEBE-2365-4012-8627-E6520EE033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5628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3E9AD-DE19-44CD-B18E-CA7C2FC2F9DB}" type="datetimeFigureOut">
              <a:rPr lang="en-GB" smtClean="0"/>
              <a:t>03/08/2025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AAEBE-2365-4012-8627-E6520EE033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6678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3E9AD-DE19-44CD-B18E-CA7C2FC2F9DB}" type="datetimeFigureOut">
              <a:rPr lang="en-GB" smtClean="0"/>
              <a:t>03/08/2025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AAEBE-2365-4012-8627-E6520EE033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5030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3E9AD-DE19-44CD-B18E-CA7C2FC2F9DB}" type="datetimeFigureOut">
              <a:rPr lang="en-GB" smtClean="0"/>
              <a:t>03/08/2025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AAEBE-2365-4012-8627-E6520EE033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4046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643E9AD-DE19-44CD-B18E-CA7C2FC2F9DB}" type="datetimeFigureOut">
              <a:rPr lang="en-GB" smtClean="0"/>
              <a:t>03/08/2025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4DAAEBE-2365-4012-8627-E6520EE033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0836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3E9AD-DE19-44CD-B18E-CA7C2FC2F9DB}" type="datetimeFigureOut">
              <a:rPr lang="en-GB" smtClean="0"/>
              <a:t>03/08/2025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AAEBE-2365-4012-8627-E6520EE033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6698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3E9AD-DE19-44CD-B18E-CA7C2FC2F9DB}" type="datetimeFigureOut">
              <a:rPr lang="en-GB" smtClean="0"/>
              <a:t>03/08/2025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AAEBE-2365-4012-8627-E6520EE033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0291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3E9AD-DE19-44CD-B18E-CA7C2FC2F9DB}" type="datetimeFigureOut">
              <a:rPr lang="en-GB" smtClean="0"/>
              <a:t>03/08/2025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AAEBE-2365-4012-8627-E6520EE033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40354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960000" y="1536633"/>
            <a:ext cx="102720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Darker Grotesque SemiBold"/>
              <a:buChar char="●"/>
              <a:defRPr sz="1600"/>
            </a:lvl1pPr>
            <a:lvl2pPr marL="1219170" lvl="1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2pPr>
            <a:lvl3pPr marL="1828754" lvl="2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3pPr>
            <a:lvl4pPr marL="2438339" lvl="3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4pPr>
            <a:lvl5pPr marL="3047924" lvl="4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5pPr>
            <a:lvl6pPr marL="3657509" lvl="5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6pPr>
            <a:lvl7pPr marL="4267093" lvl="6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7pPr>
            <a:lvl8pPr marL="4876678" lvl="7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8pPr>
            <a:lvl9pPr marL="5486263" lvl="8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35358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643E9AD-DE19-44CD-B18E-CA7C2FC2F9DB}" type="datetimeFigureOut">
              <a:rPr lang="en-GB" smtClean="0"/>
              <a:t>03/08/2025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4DAAEBE-2365-4012-8627-E6520EE033A1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4864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aai.org/" TargetMode="External"/><Relationship Id="rId2" Type="http://schemas.openxmlformats.org/officeDocument/2006/relationships/hyperlink" Target="https://github.com/YangLing0818/RPG-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D6A18-85D7-A4E9-ABA2-4F44B3931D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2400" b="1" u="sng" dirty="0"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Enhancing Text-to-Image Synthesis: </a:t>
            </a:r>
            <a:r>
              <a:rPr lang="en-US" sz="2400" b="1" u="sng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by </a:t>
            </a:r>
            <a:r>
              <a:rPr lang="en-US" sz="2400" b="1" u="sng" dirty="0"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Enriched Diversity Descriptions</a:t>
            </a:r>
            <a:br>
              <a:rPr lang="en-GB" sz="1800" b="1" u="sng" dirty="0"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GB" sz="1800" dirty="0"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GB" sz="18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18BD13-C673-D755-72C8-C13B7C769A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ctr"/>
            <a:r>
              <a:rPr lang="en-GB" sz="2400" dirty="0"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Supervised by: </a:t>
            </a:r>
            <a:r>
              <a:rPr lang="en-GB" sz="2400" dirty="0" err="1"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ASSOC.Prof</a:t>
            </a:r>
            <a:r>
              <a:rPr lang="en-GB" sz="2400" dirty="0"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GB" sz="2400" dirty="0" err="1"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Wessam</a:t>
            </a:r>
            <a:r>
              <a:rPr lang="en-GB" sz="2400" dirty="0"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 El-</a:t>
            </a:r>
            <a:r>
              <a:rPr lang="en-GB" sz="2400" dirty="0" err="1"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Behaidy</a:t>
            </a:r>
            <a:r>
              <a:rPr lang="en-GB" sz="2400" dirty="0"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algn="ctr"/>
            <a:r>
              <a:rPr lang="en-GB" sz="2400" dirty="0"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en-GB" sz="2400" dirty="0" err="1"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Dr.mai</a:t>
            </a:r>
            <a:r>
              <a:rPr lang="en-GB" sz="2400" dirty="0"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GB" sz="2400" dirty="0" err="1"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eldafrawy</a:t>
            </a:r>
            <a:endParaRPr lang="en-GB" sz="2400" dirty="0">
              <a:effectLst/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r>
              <a:rPr lang="en-GB" sz="24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Prepared by: Yomna Tarek </a:t>
            </a:r>
            <a:r>
              <a:rPr lang="en-GB" sz="2400" dirty="0" err="1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Elfiky</a:t>
            </a:r>
            <a:r>
              <a:rPr lang="en-GB" sz="24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465D15-95DB-2875-0FC6-2A7E06D6117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9402" y="294825"/>
            <a:ext cx="1392555" cy="1179830"/>
          </a:xfrm>
          <a:prstGeom prst="rect">
            <a:avLst/>
          </a:prstGeom>
        </p:spPr>
      </p:pic>
      <p:pic>
        <p:nvPicPr>
          <p:cNvPr id="5" name="Image 2">
            <a:extLst>
              <a:ext uri="{FF2B5EF4-FFF2-40B4-BE49-F238E27FC236}">
                <a16:creationId xmlns:a16="http://schemas.microsoft.com/office/drawing/2014/main" id="{12BC4C00-36DC-5DAC-040E-B66C803F8F10}"/>
              </a:ext>
            </a:extLst>
          </p:cNvPr>
          <p:cNvPicPr>
            <a:picLocks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56792" y="322130"/>
            <a:ext cx="1152525" cy="115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560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6B2D2-A5F6-6EC7-40B2-23FAA67EB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Content </a:t>
            </a: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770181A8-B3CE-0FBB-BCE5-934E1470FD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0971531"/>
              </p:ext>
            </p:extLst>
          </p:nvPr>
        </p:nvGraphicFramePr>
        <p:xfrm>
          <a:off x="1096963" y="1846263"/>
          <a:ext cx="100584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60892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ame 4">
            <a:extLst>
              <a:ext uri="{FF2B5EF4-FFF2-40B4-BE49-F238E27FC236}">
                <a16:creationId xmlns:a16="http://schemas.microsoft.com/office/drawing/2014/main" id="{AC260A41-B83A-9236-7C4A-5499C620E287}"/>
              </a:ext>
            </a:extLst>
          </p:cNvPr>
          <p:cNvSpPr/>
          <p:nvPr/>
        </p:nvSpPr>
        <p:spPr>
          <a:xfrm>
            <a:off x="2642382" y="1980027"/>
            <a:ext cx="6907236" cy="2254348"/>
          </a:xfrm>
          <a:prstGeom prst="fram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83533B-086A-5F8A-1E68-09F85A2F5A46}"/>
              </a:ext>
            </a:extLst>
          </p:cNvPr>
          <p:cNvSpPr txBox="1"/>
          <p:nvPr/>
        </p:nvSpPr>
        <p:spPr>
          <a:xfrm>
            <a:off x="3896751" y="2813538"/>
            <a:ext cx="41781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800" b="1" dirty="0">
                <a:solidFill>
                  <a:schemeClr val="tx2">
                    <a:lumMod val="50000"/>
                  </a:schemeClr>
                </a:solidFill>
              </a:rPr>
              <a:t>Introduction</a:t>
            </a:r>
            <a:r>
              <a:rPr lang="en-GB" dirty="0">
                <a:solidFill>
                  <a:schemeClr val="tx2">
                    <a:lumMod val="5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71664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A6890-04FF-A899-0A9C-A72CDE8C9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2">
                    <a:lumMod val="10000"/>
                  </a:schemeClr>
                </a:solidFill>
              </a:rPr>
              <a:t>What’s text to image (T2I)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0A1F7-CF92-6939-29C8-99A8B37B0C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b="1" i="0" dirty="0">
                <a:solidFill>
                  <a:schemeClr val="bg2">
                    <a:lumMod val="10000"/>
                  </a:schemeClr>
                </a:solidFill>
                <a:effectLst/>
                <a:latin typeface="Source Sans Pro" panose="020B0604020202020204" pitchFamily="34" charset="0"/>
              </a:rPr>
              <a:t>Text-to-image</a:t>
            </a:r>
            <a:r>
              <a:rPr lang="en-GB" sz="2400" b="0" i="0" dirty="0">
                <a:solidFill>
                  <a:schemeClr val="bg2">
                    <a:lumMod val="10000"/>
                  </a:schemeClr>
                </a:solidFill>
                <a:effectLst/>
                <a:latin typeface="Source Sans Pro" panose="020B0604020202020204" pitchFamily="34" charset="0"/>
              </a:rPr>
              <a:t> is the task of generating images from input text. These pipelines can also be used to modify and edit images based on text prompts</a:t>
            </a:r>
            <a:r>
              <a:rPr lang="en-GB" sz="2400" b="0" i="0" dirty="0">
                <a:effectLst/>
                <a:latin typeface="Source Sans Pro" panose="020B0604020202020204" pitchFamily="34" charset="0"/>
              </a:rPr>
              <a:t>.</a:t>
            </a:r>
          </a:p>
          <a:p>
            <a:endParaRPr lang="en-GB" sz="2400" dirty="0"/>
          </a:p>
        </p:txBody>
      </p:sp>
      <p:pic>
        <p:nvPicPr>
          <p:cNvPr id="4" name="Picture Placeholder 30">
            <a:extLst>
              <a:ext uri="{FF2B5EF4-FFF2-40B4-BE49-F238E27FC236}">
                <a16:creationId xmlns:a16="http://schemas.microsoft.com/office/drawing/2014/main" id="{3B84AF7A-E6C4-511A-B6F8-3AB83796827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22" b="2555"/>
          <a:stretch/>
        </p:blipFill>
        <p:spPr>
          <a:xfrm>
            <a:off x="2355850" y="2693817"/>
            <a:ext cx="7480300" cy="3063170"/>
          </a:xfrm>
          <a:prstGeom prst="roundRect">
            <a:avLst>
              <a:gd name="adj" fmla="val 16667"/>
            </a:avLst>
          </a:prstGeom>
        </p:spPr>
      </p:pic>
    </p:spTree>
    <p:extLst>
      <p:ext uri="{BB962C8B-B14F-4D97-AF65-F5344CB8AC3E}">
        <p14:creationId xmlns:p14="http://schemas.microsoft.com/office/powerpoint/2010/main" val="2432284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E1341-A895-8F08-4811-55B8D3FB73F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90734" y="287338"/>
            <a:ext cx="11901266" cy="881062"/>
          </a:xfrm>
        </p:spPr>
        <p:txBody>
          <a:bodyPr/>
          <a:lstStyle/>
          <a:p>
            <a:r>
              <a:rPr lang="en-GB" dirty="0"/>
              <a:t>T2I Helps in: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719B20-1904-0233-BCB7-7D93B8234EE3}"/>
              </a:ext>
            </a:extLst>
          </p:cNvPr>
          <p:cNvSpPr txBox="1"/>
          <p:nvPr/>
        </p:nvSpPr>
        <p:spPr>
          <a:xfrm>
            <a:off x="145367" y="1772529"/>
            <a:ext cx="11901266" cy="41395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120"/>
              </a:spcBef>
              <a:buFont typeface="Wingdings" panose="05000000000000000000" pitchFamily="2" charset="2"/>
              <a:buChar char="§"/>
            </a:pPr>
            <a:r>
              <a:rPr lang="en-GB" sz="2000" b="1" dirty="0">
                <a:solidFill>
                  <a:schemeClr val="bg2">
                    <a:lumMod val="10000"/>
                  </a:schemeClr>
                </a:solidFill>
                <a:latin typeface="Source Sans Pro" panose="020B0604020202020204" pitchFamily="34" charset="0"/>
              </a:rPr>
              <a:t>Art &amp; Creativity: </a:t>
            </a:r>
            <a:r>
              <a:rPr lang="en-GB" sz="2000" dirty="0">
                <a:solidFill>
                  <a:schemeClr val="bg2">
                    <a:lumMod val="10000"/>
                  </a:schemeClr>
                </a:solidFill>
                <a:latin typeface="Source Sans Pro" panose="020B0604020202020204" pitchFamily="34" charset="0"/>
              </a:rPr>
              <a:t>Platforms like </a:t>
            </a:r>
            <a:r>
              <a:rPr lang="en-GB" sz="2000" dirty="0" err="1">
                <a:solidFill>
                  <a:schemeClr val="bg2">
                    <a:lumMod val="10000"/>
                  </a:schemeClr>
                </a:solidFill>
                <a:latin typeface="Source Sans Pro" panose="020B0604020202020204" pitchFamily="34" charset="0"/>
              </a:rPr>
              <a:t>MidJourney</a:t>
            </a:r>
            <a:r>
              <a:rPr lang="en-GB" sz="2000" dirty="0">
                <a:solidFill>
                  <a:schemeClr val="bg2">
                    <a:lumMod val="10000"/>
                  </a:schemeClr>
                </a:solidFill>
                <a:latin typeface="Source Sans Pro" panose="020B0604020202020204" pitchFamily="34" charset="0"/>
              </a:rPr>
              <a:t> and DALL-E enable users to generate realistic or stylized images from text prompts</a:t>
            </a:r>
            <a:r>
              <a:rPr lang="en-GB" sz="2000" b="1" dirty="0">
                <a:solidFill>
                  <a:schemeClr val="bg2">
                    <a:lumMod val="10000"/>
                  </a:schemeClr>
                </a:solidFill>
                <a:latin typeface="Source Sans Pro" panose="020B0604020202020204" pitchFamily="34" charset="0"/>
              </a:rPr>
              <a:t>.</a:t>
            </a:r>
          </a:p>
          <a:p>
            <a:pPr marL="342900" indent="-342900">
              <a:spcBef>
                <a:spcPts val="120"/>
              </a:spcBef>
              <a:buFont typeface="Wingdings" panose="05000000000000000000" pitchFamily="2" charset="2"/>
              <a:buChar char="§"/>
            </a:pPr>
            <a:r>
              <a:rPr lang="en-GB" sz="2000" b="1" dirty="0">
                <a:solidFill>
                  <a:schemeClr val="bg2">
                    <a:lumMod val="10000"/>
                  </a:schemeClr>
                </a:solidFill>
                <a:latin typeface="Source Sans Pro" panose="020B0604020202020204" pitchFamily="34" charset="0"/>
              </a:rPr>
              <a:t>Product Design: </a:t>
            </a:r>
            <a:r>
              <a:rPr lang="en-GB" sz="2000" dirty="0">
                <a:solidFill>
                  <a:schemeClr val="bg2">
                    <a:lumMod val="10000"/>
                  </a:schemeClr>
                </a:solidFill>
                <a:latin typeface="Source Sans Pro" panose="020B0604020202020204" pitchFamily="34" charset="0"/>
              </a:rPr>
              <a:t>Create visuals for marketing, e-commerce, and concept design.</a:t>
            </a:r>
          </a:p>
          <a:p>
            <a:pPr marL="342900" indent="-342900">
              <a:spcBef>
                <a:spcPts val="120"/>
              </a:spcBef>
              <a:buFont typeface="Wingdings" panose="05000000000000000000" pitchFamily="2" charset="2"/>
              <a:buChar char="§"/>
            </a:pPr>
            <a:r>
              <a:rPr lang="en-GB" sz="2000" b="1" dirty="0">
                <a:solidFill>
                  <a:schemeClr val="bg2">
                    <a:lumMod val="10000"/>
                  </a:schemeClr>
                </a:solidFill>
                <a:latin typeface="Source Sans Pro" panose="020B0604020202020204" pitchFamily="34" charset="0"/>
              </a:rPr>
              <a:t>Data Augmentation: </a:t>
            </a:r>
            <a:r>
              <a:rPr lang="en-GB" sz="2000" dirty="0">
                <a:solidFill>
                  <a:schemeClr val="bg2">
                    <a:lumMod val="10000"/>
                  </a:schemeClr>
                </a:solidFill>
                <a:latin typeface="Source Sans Pro" panose="020B0604020202020204" pitchFamily="34" charset="0"/>
              </a:rPr>
              <a:t>Enrich training datasets to improve machine learning model generalization</a:t>
            </a:r>
            <a:r>
              <a:rPr lang="en-GB" sz="2000" b="1" dirty="0">
                <a:solidFill>
                  <a:schemeClr val="bg2">
                    <a:lumMod val="10000"/>
                  </a:schemeClr>
                </a:solidFill>
                <a:latin typeface="Source Sans Pro" panose="020B0604020202020204" pitchFamily="34" charset="0"/>
              </a:rPr>
              <a:t>.</a:t>
            </a:r>
          </a:p>
          <a:p>
            <a:pPr marL="342900" indent="-342900">
              <a:spcBef>
                <a:spcPts val="120"/>
              </a:spcBef>
              <a:buFont typeface="Wingdings" panose="05000000000000000000" pitchFamily="2" charset="2"/>
              <a:buChar char="§"/>
            </a:pPr>
            <a:r>
              <a:rPr lang="en-GB" sz="2000" b="1" dirty="0">
                <a:solidFill>
                  <a:schemeClr val="bg2">
                    <a:lumMod val="10000"/>
                  </a:schemeClr>
                </a:solidFill>
                <a:latin typeface="Source Sans Pro" panose="020B0604020202020204" pitchFamily="34" charset="0"/>
              </a:rPr>
              <a:t>Rapid Concept Visualization &amp; Idea Stimulation and Exploration : </a:t>
            </a:r>
            <a:r>
              <a:rPr lang="en-GB" sz="2000" dirty="0">
                <a:solidFill>
                  <a:schemeClr val="bg2">
                    <a:lumMod val="10000"/>
                  </a:schemeClr>
                </a:solidFill>
                <a:latin typeface="Source Sans Pro" panose="020B0604020202020204" pitchFamily="34" charset="0"/>
              </a:rPr>
              <a:t>This helps reduce the time spent on sketching or CAD </a:t>
            </a:r>
            <a:r>
              <a:rPr lang="en-GB" sz="2000" dirty="0" err="1">
                <a:solidFill>
                  <a:schemeClr val="bg2">
                    <a:lumMod val="10000"/>
                  </a:schemeClr>
                </a:solidFill>
                <a:latin typeface="Source Sans Pro" panose="020B0604020202020204" pitchFamily="34" charset="0"/>
              </a:rPr>
              <a:t>modeling</a:t>
            </a:r>
            <a:r>
              <a:rPr lang="en-GB" sz="2000" dirty="0">
                <a:solidFill>
                  <a:schemeClr val="bg2">
                    <a:lumMod val="10000"/>
                  </a:schemeClr>
                </a:solidFill>
                <a:latin typeface="Source Sans Pro" panose="020B0604020202020204" pitchFamily="34" charset="0"/>
              </a:rPr>
              <a:t> during the concept generation phase, Sparks creativity by producing unexpected visual interpretations of abstract .</a:t>
            </a:r>
          </a:p>
          <a:p>
            <a:pPr marL="342900" indent="-342900">
              <a:spcBef>
                <a:spcPts val="120"/>
              </a:spcBef>
              <a:buFont typeface="Wingdings" panose="05000000000000000000" pitchFamily="2" charset="2"/>
              <a:buChar char="§"/>
            </a:pPr>
            <a:r>
              <a:rPr lang="en-GB" sz="2000" b="1" dirty="0">
                <a:solidFill>
                  <a:schemeClr val="bg2">
                    <a:lumMod val="10000"/>
                  </a:schemeClr>
                </a:solidFill>
                <a:latin typeface="Source Sans Pro" panose="020B0604020202020204" pitchFamily="34" charset="0"/>
              </a:rPr>
              <a:t>Increased Accessibility</a:t>
            </a:r>
            <a:r>
              <a:rPr lang="en-GB" sz="2000" dirty="0">
                <a:solidFill>
                  <a:schemeClr val="bg2">
                    <a:lumMod val="10000"/>
                  </a:schemeClr>
                </a:solidFill>
                <a:latin typeface="Source Sans Pro" panose="020B0604020202020204" pitchFamily="34" charset="0"/>
              </a:rPr>
              <a:t>: Non-designers or stakeholders without design training can still contribute ideas using language, improving collaboration and inclusivity in design teams.</a:t>
            </a:r>
          </a:p>
          <a:p>
            <a:pPr marL="342900" indent="-342900">
              <a:spcBef>
                <a:spcPts val="120"/>
              </a:spcBef>
              <a:buFont typeface="Wingdings" panose="05000000000000000000" pitchFamily="2" charset="2"/>
              <a:buChar char="§"/>
            </a:pPr>
            <a:r>
              <a:rPr lang="en-GB" sz="2000" b="1" dirty="0">
                <a:solidFill>
                  <a:schemeClr val="bg2">
                    <a:lumMod val="10000"/>
                  </a:schemeClr>
                </a:solidFill>
                <a:latin typeface="Source Sans Pro" panose="020B0604020202020204" pitchFamily="34" charset="0"/>
              </a:rPr>
              <a:t>Efficiency and Competitive Advantage: </a:t>
            </a:r>
            <a:r>
              <a:rPr lang="en-GB" sz="2000" dirty="0">
                <a:solidFill>
                  <a:schemeClr val="bg2">
                    <a:lumMod val="10000"/>
                  </a:schemeClr>
                </a:solidFill>
                <a:latin typeface="Source Sans Pro" panose="020B0604020202020204" pitchFamily="34" charset="0"/>
              </a:rPr>
              <a:t>Teams can evaluate more concepts faster, potentially gaining a time-to-market advantage.</a:t>
            </a:r>
          </a:p>
          <a:p>
            <a:pPr>
              <a:spcBef>
                <a:spcPts val="120"/>
              </a:spcBef>
            </a:pPr>
            <a:r>
              <a:rPr lang="en-GB" sz="2000" dirty="0">
                <a:solidFill>
                  <a:schemeClr val="bg2">
                    <a:lumMod val="10000"/>
                  </a:schemeClr>
                </a:solidFill>
                <a:latin typeface="Source Sans Pro" panose="020B0604020202020204" pitchFamily="34" charset="0"/>
              </a:rPr>
              <a:t>       Better use of design resources by automating some stages of concept visualisation.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44142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56ED0E42-47C5-9BFA-4C7F-D44FAD952187}"/>
              </a:ext>
            </a:extLst>
          </p:cNvPr>
          <p:cNvSpPr/>
          <p:nvPr/>
        </p:nvSpPr>
        <p:spPr>
          <a:xfrm>
            <a:off x="2642382" y="1980027"/>
            <a:ext cx="6907236" cy="2254348"/>
          </a:xfrm>
          <a:prstGeom prst="fram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BBFF75-369C-F9CC-44FA-35226AF7CD6A}"/>
              </a:ext>
            </a:extLst>
          </p:cNvPr>
          <p:cNvSpPr txBox="1"/>
          <p:nvPr/>
        </p:nvSpPr>
        <p:spPr>
          <a:xfrm>
            <a:off x="3606018" y="2799470"/>
            <a:ext cx="49799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800" b="1" dirty="0">
                <a:solidFill>
                  <a:schemeClr val="tx2">
                    <a:lumMod val="50000"/>
                  </a:schemeClr>
                </a:solidFill>
              </a:rPr>
              <a:t>Research</a:t>
            </a:r>
            <a:r>
              <a:rPr lang="en-GB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GB" sz="4800" b="1" dirty="0">
                <a:solidFill>
                  <a:schemeClr val="tx2">
                    <a:lumMod val="50000"/>
                  </a:schemeClr>
                </a:solidFill>
              </a:rPr>
              <a:t>problem</a:t>
            </a:r>
            <a:r>
              <a:rPr lang="en-GB" dirty="0">
                <a:solidFill>
                  <a:schemeClr val="tx2">
                    <a:lumMod val="5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5135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E99D0-FC59-B9F9-5712-43A0F6618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C0552-E2AC-F23C-FD8F-FFB9626DF5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GB" sz="1800" b="1" dirty="0">
                <a:solidFill>
                  <a:schemeClr val="bg2">
                    <a:lumMod val="10000"/>
                  </a:schemeClr>
                </a:solidFill>
              </a:rPr>
              <a:t>Limited Representation of Global Visual Relationships</a:t>
            </a:r>
            <a:r>
              <a:rPr lang="en-GB" b="1" dirty="0"/>
              <a:t>:</a:t>
            </a:r>
          </a:p>
          <a:p>
            <a:pPr marL="292608" lvl="1" indent="0" algn="ctr">
              <a:buNone/>
            </a:pPr>
            <a:r>
              <a:rPr lang="en-GB" sz="2000" dirty="0">
                <a:solidFill>
                  <a:schemeClr val="bg2">
                    <a:lumMod val="10000"/>
                  </a:schemeClr>
                </a:solidFill>
              </a:rPr>
              <a:t>  Traditional convolutional neural networks (CNNs), while effective for local feature extraction,       often struggle with capturing long-range dependencies across an entire image. 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800" b="1" dirty="0">
                <a:solidFill>
                  <a:schemeClr val="bg2">
                    <a:lumMod val="10000"/>
                  </a:schemeClr>
                </a:solidFill>
              </a:rPr>
              <a:t>Prompt Adherence and Semantic Accuracy, which</a:t>
            </a:r>
            <a:r>
              <a:rPr lang="en-GB" sz="1800" dirty="0">
                <a:solidFill>
                  <a:schemeClr val="bg2">
                    <a:lumMod val="10000"/>
                  </a:schemeClr>
                </a:solidFill>
              </a:rPr>
              <a:t> leads to generating images with artifacts, lacking fine detail or alignment with prompt specifics—especially for intricate scenes like "a </a:t>
            </a:r>
            <a:r>
              <a:rPr lang="en-GB" sz="1800" dirty="0" err="1">
                <a:solidFill>
                  <a:schemeClr val="bg2">
                    <a:lumMod val="10000"/>
                  </a:schemeClr>
                </a:solidFill>
              </a:rPr>
              <a:t>hyperrealistic</a:t>
            </a:r>
            <a:r>
              <a:rPr lang="en-GB" sz="1800" dirty="0">
                <a:solidFill>
                  <a:schemeClr val="bg2">
                    <a:lumMod val="10000"/>
                  </a:schemeClr>
                </a:solidFill>
              </a:rPr>
              <a:t> samurai cat in cyberpunk </a:t>
            </a:r>
            <a:r>
              <a:rPr lang="en-GB" sz="1800" dirty="0" err="1">
                <a:solidFill>
                  <a:schemeClr val="bg2">
                    <a:lumMod val="10000"/>
                  </a:schemeClr>
                </a:solidFill>
              </a:rPr>
              <a:t>armor</a:t>
            </a:r>
            <a:r>
              <a:rPr lang="en-GB" sz="1800" dirty="0">
                <a:solidFill>
                  <a:schemeClr val="bg2">
                    <a:lumMod val="10000"/>
                  </a:schemeClr>
                </a:solidFill>
              </a:rPr>
              <a:t> at night.</a:t>
            </a:r>
            <a:endParaRPr lang="en-GB" sz="1800" b="1" dirty="0">
              <a:solidFill>
                <a:schemeClr val="bg2">
                  <a:lumMod val="10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sz="1800" b="1" dirty="0">
                <a:solidFill>
                  <a:schemeClr val="bg2">
                    <a:lumMod val="10000"/>
                  </a:schemeClr>
                </a:solidFill>
              </a:rPr>
              <a:t>Language comprehension limits</a:t>
            </a:r>
            <a:r>
              <a:rPr lang="en-GB" sz="1800" dirty="0">
                <a:solidFill>
                  <a:schemeClr val="bg2">
                    <a:lumMod val="10000"/>
                  </a:schemeClr>
                </a:solidFill>
              </a:rPr>
              <a:t> (abstract prompts, named entities, multilingual prompts, long prompts).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sz="1800" b="1" dirty="0">
                <a:solidFill>
                  <a:schemeClr val="bg2">
                    <a:lumMod val="10000"/>
                  </a:schemeClr>
                </a:solidFill>
              </a:rPr>
              <a:t>Lack of diversity and generalization</a:t>
            </a:r>
            <a:r>
              <a:rPr lang="en-GB" sz="1800" dirty="0">
                <a:solidFill>
                  <a:schemeClr val="bg2">
                    <a:lumMod val="10000"/>
                  </a:schemeClr>
                </a:solidFill>
              </a:rPr>
              <a:t> across domains and styles.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sz="1800" b="1" dirty="0">
                <a:solidFill>
                  <a:schemeClr val="bg2">
                    <a:lumMod val="10000"/>
                  </a:schemeClr>
                </a:solidFill>
              </a:rPr>
              <a:t>Noise in captions</a:t>
            </a:r>
            <a:r>
              <a:rPr lang="en-GB" sz="1800" dirty="0">
                <a:solidFill>
                  <a:schemeClr val="bg2">
                    <a:lumMod val="10000"/>
                  </a:schemeClr>
                </a:solidFill>
              </a:rPr>
              <a:t> that disrupts text-image alignment.</a:t>
            </a:r>
          </a:p>
          <a:p>
            <a:pPr marL="0" indent="0">
              <a:buNone/>
            </a:pPr>
            <a:endParaRPr lang="en-GB" sz="1800" b="1" dirty="0">
              <a:solidFill>
                <a:schemeClr val="bg2">
                  <a:lumMod val="10000"/>
                </a:schemeClr>
              </a:solidFill>
            </a:endParaRPr>
          </a:p>
          <a:p>
            <a:pPr marL="0" indent="0" algn="ctr">
              <a:buNone/>
            </a:pPr>
            <a:endParaRPr lang="en-GB" dirty="0"/>
          </a:p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74467A-1544-A5D3-3388-2BA8B4196290}"/>
              </a:ext>
            </a:extLst>
          </p:cNvPr>
          <p:cNvSpPr txBox="1"/>
          <p:nvPr/>
        </p:nvSpPr>
        <p:spPr>
          <a:xfrm>
            <a:off x="1071703" y="766167"/>
            <a:ext cx="32215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Problems </a:t>
            </a:r>
          </a:p>
        </p:txBody>
      </p:sp>
    </p:spTree>
    <p:extLst>
      <p:ext uri="{BB962C8B-B14F-4D97-AF65-F5344CB8AC3E}">
        <p14:creationId xmlns:p14="http://schemas.microsoft.com/office/powerpoint/2010/main" val="1662313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56ED0E42-47C5-9BFA-4C7F-D44FAD952187}"/>
              </a:ext>
            </a:extLst>
          </p:cNvPr>
          <p:cNvSpPr/>
          <p:nvPr/>
        </p:nvSpPr>
        <p:spPr>
          <a:xfrm>
            <a:off x="2642382" y="1980027"/>
            <a:ext cx="6907236" cy="2254348"/>
          </a:xfrm>
          <a:prstGeom prst="fram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BBFF75-369C-F9CC-44FA-35226AF7CD6A}"/>
              </a:ext>
            </a:extLst>
          </p:cNvPr>
          <p:cNvSpPr txBox="1"/>
          <p:nvPr/>
        </p:nvSpPr>
        <p:spPr>
          <a:xfrm>
            <a:off x="3606018" y="2799470"/>
            <a:ext cx="49799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800" b="1" dirty="0">
                <a:solidFill>
                  <a:schemeClr val="tx2">
                    <a:lumMod val="50000"/>
                  </a:schemeClr>
                </a:solidFill>
              </a:rPr>
              <a:t>Research</a:t>
            </a:r>
            <a:r>
              <a:rPr lang="en-GB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GB" sz="4800" b="1" dirty="0">
                <a:solidFill>
                  <a:schemeClr val="tx2">
                    <a:lumMod val="50000"/>
                  </a:schemeClr>
                </a:solidFill>
              </a:rPr>
              <a:t>objective</a:t>
            </a:r>
            <a:r>
              <a:rPr lang="en-GB" dirty="0">
                <a:solidFill>
                  <a:schemeClr val="tx2">
                    <a:lumMod val="5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3308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534A8-5F04-B0F8-70F1-04E965096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Objective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4B3FC-FECF-4B87-887B-E5DD79128F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2712" y="1845734"/>
            <a:ext cx="10407535" cy="4023360"/>
          </a:xfrm>
        </p:spPr>
        <p:txBody>
          <a:bodyPr>
            <a:normAutofit/>
          </a:bodyPr>
          <a:lstStyle/>
          <a:p>
            <a:endParaRPr lang="en-GB" b="1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en-GB" b="1" dirty="0">
                <a:solidFill>
                  <a:schemeClr val="bg2">
                    <a:lumMod val="10000"/>
                  </a:schemeClr>
                </a:solidFill>
              </a:rPr>
              <a:t>Developing a Unified Multimodal Framework for :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en-GB" b="1" dirty="0">
                <a:solidFill>
                  <a:schemeClr val="bg2">
                    <a:lumMod val="10000"/>
                  </a:schemeClr>
                </a:solidFill>
              </a:rPr>
              <a:t>Enhancing Prompt Adherence and Semantic Accuracy, </a:t>
            </a:r>
            <a:r>
              <a:rPr lang="en-GB" sz="2000" dirty="0">
                <a:solidFill>
                  <a:schemeClr val="bg2">
                    <a:lumMod val="10000"/>
                  </a:schemeClr>
                </a:solidFill>
              </a:rPr>
              <a:t>T5's ability to convert all NLP tasks into a text-to-text format enables it to interpret complex prompts more accurately, including specific styles, emotions, and contextual elements. 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b="1" dirty="0">
                <a:solidFill>
                  <a:schemeClr val="bg2">
                    <a:lumMod val="10000"/>
                  </a:schemeClr>
                </a:solidFill>
              </a:rPr>
              <a:t>Improving Global Visual Relationships</a:t>
            </a:r>
            <a:endParaRPr lang="ar-EG" b="1" dirty="0">
              <a:solidFill>
                <a:schemeClr val="bg2">
                  <a:lumMod val="10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GB" b="1" dirty="0">
                <a:solidFill>
                  <a:schemeClr val="bg2">
                    <a:lumMod val="10000"/>
                  </a:schemeClr>
                </a:solidFill>
              </a:rPr>
              <a:t>Advancing High-Quality, Coherent Image Generation</a:t>
            </a:r>
          </a:p>
          <a:p>
            <a:pPr>
              <a:buFont typeface="Wingdings" panose="05000000000000000000" pitchFamily="2" charset="2"/>
              <a:buChar char="§"/>
            </a:pPr>
            <a:endParaRPr lang="en-GB" sz="220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25639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56ED0E42-47C5-9BFA-4C7F-D44FAD952187}"/>
              </a:ext>
            </a:extLst>
          </p:cNvPr>
          <p:cNvSpPr/>
          <p:nvPr/>
        </p:nvSpPr>
        <p:spPr>
          <a:xfrm>
            <a:off x="2642382" y="1980027"/>
            <a:ext cx="6907236" cy="2254348"/>
          </a:xfrm>
          <a:prstGeom prst="fram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BBFF75-369C-F9CC-44FA-35226AF7CD6A}"/>
              </a:ext>
            </a:extLst>
          </p:cNvPr>
          <p:cNvSpPr txBox="1"/>
          <p:nvPr/>
        </p:nvSpPr>
        <p:spPr>
          <a:xfrm>
            <a:off x="3606018" y="2799470"/>
            <a:ext cx="49799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tx2">
                    <a:lumMod val="50000"/>
                  </a:schemeClr>
                </a:solidFill>
              </a:rPr>
              <a:t>Literature review</a:t>
            </a:r>
          </a:p>
        </p:txBody>
      </p:sp>
    </p:spTree>
    <p:extLst>
      <p:ext uri="{BB962C8B-B14F-4D97-AF65-F5344CB8AC3E}">
        <p14:creationId xmlns:p14="http://schemas.microsoft.com/office/powerpoint/2010/main" val="37799389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E7B7D5-D8C8-15F2-46A4-87572A0ED5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000" y="1772529"/>
            <a:ext cx="10272000" cy="4319304"/>
          </a:xfrm>
        </p:spPr>
        <p:txBody>
          <a:bodyPr/>
          <a:lstStyle/>
          <a:p>
            <a:endParaRPr lang="en-GB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627F808F-CFBC-1F34-48C1-C7389A8CBD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4138209"/>
              </p:ext>
            </p:extLst>
          </p:nvPr>
        </p:nvGraphicFramePr>
        <p:xfrm>
          <a:off x="934448" y="140677"/>
          <a:ext cx="10297552" cy="5671123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654007">
                  <a:extLst>
                    <a:ext uri="{9D8B030D-6E8A-4147-A177-3AD203B41FA5}">
                      <a16:colId xmlns:a16="http://schemas.microsoft.com/office/drawing/2014/main" val="2680735961"/>
                    </a:ext>
                  </a:extLst>
                </a:gridCol>
                <a:gridCol w="3494769">
                  <a:extLst>
                    <a:ext uri="{9D8B030D-6E8A-4147-A177-3AD203B41FA5}">
                      <a16:colId xmlns:a16="http://schemas.microsoft.com/office/drawing/2014/main" val="3609482124"/>
                    </a:ext>
                  </a:extLst>
                </a:gridCol>
                <a:gridCol w="2216714">
                  <a:extLst>
                    <a:ext uri="{9D8B030D-6E8A-4147-A177-3AD203B41FA5}">
                      <a16:colId xmlns:a16="http://schemas.microsoft.com/office/drawing/2014/main" val="4125562156"/>
                    </a:ext>
                  </a:extLst>
                </a:gridCol>
                <a:gridCol w="2932062">
                  <a:extLst>
                    <a:ext uri="{9D8B030D-6E8A-4147-A177-3AD203B41FA5}">
                      <a16:colId xmlns:a16="http://schemas.microsoft.com/office/drawing/2014/main" val="2818434624"/>
                    </a:ext>
                  </a:extLst>
                </a:gridCol>
              </a:tblGrid>
              <a:tr h="609170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Paper name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Research objective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Methods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Dataset &amp; Result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702089"/>
                  </a:ext>
                </a:extLst>
              </a:tr>
              <a:tr h="2738941">
                <a:tc>
                  <a:txBody>
                    <a:bodyPr/>
                    <a:lstStyle/>
                    <a:p>
                      <a:r>
                        <a:rPr lang="en-GB" dirty="0"/>
                        <a:t>Unified Text-to-Image Generation and </a:t>
                      </a:r>
                      <a:r>
                        <a:rPr lang="en-GB" dirty="0" err="1"/>
                        <a:t>Retrieva</a:t>
                      </a:r>
                      <a:r>
                        <a:rPr lang="en-GB" dirty="0"/>
                        <a:t>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0" dirty="0"/>
                        <a:t>To unify text-to-image generation and text-to-image retrieval within a single Multimodal Large Language Model (MLLM) framework, enabling the model to automatically decide whether to generate a new image or retrieve an existing </a:t>
                      </a:r>
                      <a:r>
                        <a:rPr lang="en-GB" dirty="0"/>
                        <a:t>one from a gallery, based on user prompts and task requirements.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2 main </a:t>
                      </a:r>
                      <a:r>
                        <a:rPr lang="en-GB" dirty="0" err="1"/>
                        <a:t>mllm</a:t>
                      </a:r>
                      <a:r>
                        <a:rPr lang="en-GB" dirty="0"/>
                        <a:t> (SEED-</a:t>
                      </a:r>
                      <a:r>
                        <a:rPr lang="en-GB" dirty="0" err="1"/>
                        <a:t>LLaMA</a:t>
                      </a:r>
                      <a:r>
                        <a:rPr lang="en-GB" dirty="0"/>
                        <a:t>), (</a:t>
                      </a:r>
                      <a:r>
                        <a:rPr lang="en-GB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LaVIT</a:t>
                      </a:r>
                      <a:r>
                        <a:rPr lang="en-GB" dirty="0"/>
                        <a:t>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Diffusion Decoder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MS-COCO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Flickr30K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b="1" dirty="0"/>
                        <a:t>Result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/>
                        <a:t>CLIP-T (</a:t>
                      </a:r>
                      <a:r>
                        <a:rPr lang="fr-FR" dirty="0" err="1"/>
                        <a:t>LaVIT</a:t>
                      </a:r>
                      <a:r>
                        <a:rPr lang="fr-FR" dirty="0"/>
                        <a:t>)=28.45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/>
                        <a:t>CLIP-I (</a:t>
                      </a:r>
                      <a:r>
                        <a:rPr lang="fr-FR" dirty="0" err="1"/>
                        <a:t>LaVIT</a:t>
                      </a:r>
                      <a:r>
                        <a:rPr lang="fr-FR" dirty="0"/>
                        <a:t>)=</a:t>
                      </a:r>
                      <a:r>
                        <a:rPr lang="en-GB" dirty="0"/>
                        <a:t>61.37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/>
                        <a:t>CLIP-T</a:t>
                      </a:r>
                      <a:r>
                        <a:rPr lang="en-GB" dirty="0"/>
                        <a:t> (SEED-</a:t>
                      </a:r>
                      <a:r>
                        <a:rPr lang="en-GB" dirty="0" err="1"/>
                        <a:t>LLaMA</a:t>
                      </a:r>
                      <a:r>
                        <a:rPr lang="en-GB" dirty="0"/>
                        <a:t>)=16.95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dirty="0"/>
                        <a:t>CLIP-T</a:t>
                      </a:r>
                      <a:r>
                        <a:rPr lang="en-GB" dirty="0"/>
                        <a:t> (SEED-</a:t>
                      </a:r>
                      <a:r>
                        <a:rPr lang="en-GB" dirty="0" err="1"/>
                        <a:t>LLaMA</a:t>
                      </a:r>
                      <a:r>
                        <a:rPr lang="en-GB" dirty="0"/>
                        <a:t>)=40.30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750323"/>
                  </a:ext>
                </a:extLst>
              </a:tr>
              <a:tr h="2227313">
                <a:tc>
                  <a:txBody>
                    <a:bodyPr/>
                    <a:lstStyle/>
                    <a:p>
                      <a:r>
                        <a:rPr lang="en-GB" dirty="0"/>
                        <a:t>ANCHOR: LLM-driven News Subject Conditioning for Text-to Image Synthesis(2024)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Evaluate and improve the performance of Text-to-Image (T2I) generation models on abstractive news captions</a:t>
                      </a:r>
                      <a:r>
                        <a:rPr lang="en-GB" b="0" dirty="0"/>
                        <a:t>, AI can better support journalism, media illustration, and automated content creation.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GPT-3.5, GPT-4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Stable Diffusion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SAFE (DFE + GPT-3.5)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ANCHOR Dataset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SAFE (DFE + GPT-3.5):</a:t>
                      </a:r>
                    </a:p>
                    <a:p>
                      <a:r>
                        <a:rPr lang="en-GB" dirty="0"/>
                        <a:t>      (FIDCLIP ↓)=7.2804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10176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79384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F4585B-7D79-AC19-03F5-FFA8D83EA2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000" y="506437"/>
            <a:ext cx="10272000" cy="5585396"/>
          </a:xfrm>
        </p:spPr>
        <p:txBody>
          <a:bodyPr/>
          <a:lstStyle/>
          <a:p>
            <a:endParaRPr lang="en-GB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F0242FB-63CE-F27F-DE47-DEE3DF41EC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4600808"/>
              </p:ext>
            </p:extLst>
          </p:nvPr>
        </p:nvGraphicFramePr>
        <p:xfrm>
          <a:off x="960000" y="289173"/>
          <a:ext cx="10272000" cy="603577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19298">
                  <a:extLst>
                    <a:ext uri="{9D8B030D-6E8A-4147-A177-3AD203B41FA5}">
                      <a16:colId xmlns:a16="http://schemas.microsoft.com/office/drawing/2014/main" val="4270031765"/>
                    </a:ext>
                  </a:extLst>
                </a:gridCol>
                <a:gridCol w="3165231">
                  <a:extLst>
                    <a:ext uri="{9D8B030D-6E8A-4147-A177-3AD203B41FA5}">
                      <a16:colId xmlns:a16="http://schemas.microsoft.com/office/drawing/2014/main" val="1289159925"/>
                    </a:ext>
                  </a:extLst>
                </a:gridCol>
                <a:gridCol w="2319471">
                  <a:extLst>
                    <a:ext uri="{9D8B030D-6E8A-4147-A177-3AD203B41FA5}">
                      <a16:colId xmlns:a16="http://schemas.microsoft.com/office/drawing/2014/main" val="3331358063"/>
                    </a:ext>
                  </a:extLst>
                </a:gridCol>
                <a:gridCol w="2568000">
                  <a:extLst>
                    <a:ext uri="{9D8B030D-6E8A-4147-A177-3AD203B41FA5}">
                      <a16:colId xmlns:a16="http://schemas.microsoft.com/office/drawing/2014/main" val="1287884333"/>
                    </a:ext>
                  </a:extLst>
                </a:gridCol>
              </a:tblGrid>
              <a:tr h="640811">
                <a:tc>
                  <a:txBody>
                    <a:bodyPr/>
                    <a:lstStyle/>
                    <a:p>
                      <a:r>
                        <a:rPr lang="en-GB" dirty="0"/>
                        <a:t>Paper name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Research objective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Methods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Dataset &amp; Result </a:t>
                      </a:r>
                    </a:p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5978504"/>
                  </a:ext>
                </a:extLst>
              </a:tr>
              <a:tr h="2400649">
                <a:tc>
                  <a:txBody>
                    <a:bodyPr/>
                    <a:lstStyle/>
                    <a:p>
                      <a:r>
                        <a:rPr lang="en-GB" dirty="0"/>
                        <a:t>An Empirical Study and Analysis of Text-to-Image Generation Using Large Language </a:t>
                      </a:r>
                      <a:r>
                        <a:rPr lang="en-GB" dirty="0" err="1"/>
                        <a:t>ModelPowered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TextualRepresentation</a:t>
                      </a:r>
                      <a:r>
                        <a:rPr lang="en-GB" dirty="0"/>
                        <a:t>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 fully leverage the language understanding power of Large Language Models (LLMs) for text-to-image (T2I) generation, while maintaining efficient training and high visual quality — especially under </a:t>
                      </a:r>
                      <a:r>
                        <a:rPr lang="en-GB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multilingual prompts.</a:t>
                      </a:r>
                      <a:endParaRPr lang="en-GB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Transformer-based Adapter for LLM-to-CLIP Alignment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Latent Diffusion Model (LDM)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Flickr-8k-cn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COCO-</a:t>
                      </a:r>
                      <a:r>
                        <a:rPr lang="en-GB" dirty="0" err="1"/>
                        <a:t>cn</a:t>
                      </a:r>
                      <a:endParaRPr lang="en-GB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b="1" dirty="0"/>
                        <a:t>Result 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CLIP Score ↑: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GB" dirty="0"/>
                        <a:t>     (COCO-</a:t>
                      </a:r>
                      <a:r>
                        <a:rPr lang="en-GB" dirty="0" err="1"/>
                        <a:t>cn</a:t>
                      </a:r>
                      <a:r>
                        <a:rPr lang="en-GB" dirty="0"/>
                        <a:t>)= 0.341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dirty="0"/>
                        <a:t>FID=22.38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CLIP Score ↑: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GB" dirty="0"/>
                        <a:t>     (Flickr-8k-cn)= 0.3326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dirty="0"/>
                        <a:t>FID=83.53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955737"/>
                  </a:ext>
                </a:extLst>
              </a:tr>
              <a:tr h="2523358">
                <a:tc>
                  <a:txBody>
                    <a:bodyPr/>
                    <a:lstStyle/>
                    <a:p>
                      <a:r>
                        <a:rPr lang="en-GB" dirty="0" err="1"/>
                        <a:t>EdgeFusion</a:t>
                      </a:r>
                      <a:r>
                        <a:rPr lang="en-GB" dirty="0"/>
                        <a:t>:</a:t>
                      </a:r>
                    </a:p>
                    <a:p>
                      <a:r>
                        <a:rPr lang="en-GB" dirty="0"/>
                        <a:t> On-Device </a:t>
                      </a:r>
                    </a:p>
                    <a:p>
                      <a:r>
                        <a:rPr lang="en-GB" dirty="0"/>
                        <a:t>Text-to-Image Generation</a:t>
                      </a:r>
                    </a:p>
                    <a:p>
                      <a:r>
                        <a:rPr lang="en-GB" dirty="0"/>
                        <a:t>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To develop a compact, fast, and high-quality text-to-image (T2I) generation model suitable for real-time inference on resource-constrained edge devices such as NPUs, by combining advanced knowledge distillation, improved data quality, and efficient deployment strategies.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Sphinx (LLM).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Latent Diffusion Model (LDM) (stable diffusion)</a:t>
                      </a:r>
                    </a:p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LAION dataset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Result: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IS= 28.78, FID =19.34 , CLIP= 0.272</a:t>
                      </a:r>
                      <a:endParaRPr lang="en-GB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22719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24011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EEC729-7C06-4C9C-E534-DE767893D4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000" y="263236"/>
            <a:ext cx="10272000" cy="5828597"/>
          </a:xfrm>
        </p:spPr>
        <p:txBody>
          <a:bodyPr/>
          <a:lstStyle/>
          <a:p>
            <a:r>
              <a:rPr lang="en-GB" dirty="0"/>
              <a:t>Paper name </a:t>
            </a:r>
          </a:p>
          <a:p>
            <a:endParaRPr lang="en-GB" dirty="0"/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65B47217-4BB7-DC36-43B3-C76FBAD115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8778907"/>
              </p:ext>
            </p:extLst>
          </p:nvPr>
        </p:nvGraphicFramePr>
        <p:xfrm>
          <a:off x="934448" y="140677"/>
          <a:ext cx="10297552" cy="5566563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905734">
                  <a:extLst>
                    <a:ext uri="{9D8B030D-6E8A-4147-A177-3AD203B41FA5}">
                      <a16:colId xmlns:a16="http://schemas.microsoft.com/office/drawing/2014/main" val="2680735961"/>
                    </a:ext>
                  </a:extLst>
                </a:gridCol>
                <a:gridCol w="3449782">
                  <a:extLst>
                    <a:ext uri="{9D8B030D-6E8A-4147-A177-3AD203B41FA5}">
                      <a16:colId xmlns:a16="http://schemas.microsoft.com/office/drawing/2014/main" val="3609482124"/>
                    </a:ext>
                  </a:extLst>
                </a:gridCol>
                <a:gridCol w="2009974">
                  <a:extLst>
                    <a:ext uri="{9D8B030D-6E8A-4147-A177-3AD203B41FA5}">
                      <a16:colId xmlns:a16="http://schemas.microsoft.com/office/drawing/2014/main" val="4125562156"/>
                    </a:ext>
                  </a:extLst>
                </a:gridCol>
                <a:gridCol w="2932062">
                  <a:extLst>
                    <a:ext uri="{9D8B030D-6E8A-4147-A177-3AD203B41FA5}">
                      <a16:colId xmlns:a16="http://schemas.microsoft.com/office/drawing/2014/main" val="2818434624"/>
                    </a:ext>
                  </a:extLst>
                </a:gridCol>
              </a:tblGrid>
              <a:tr h="645628">
                <a:tc>
                  <a:txBody>
                    <a:bodyPr/>
                    <a:lstStyle/>
                    <a:p>
                      <a:pPr algn="ctr"/>
                      <a:r>
                        <a:rPr lang="en-GB" sz="2000"/>
                        <a:t>Paper name </a:t>
                      </a:r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Research objective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Methods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Dataset &amp; Result 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702089"/>
                  </a:ext>
                </a:extLst>
              </a:tr>
              <a:tr h="2552640">
                <a:tc>
                  <a:txBody>
                    <a:bodyPr/>
                    <a:lstStyle/>
                    <a:p>
                      <a:r>
                        <a:rPr lang="en-GB" dirty="0"/>
                        <a:t>Mastering Text-to-Image Diffusion: Recaptioning, Planning, and Generating with Multimodal LLMs(2024)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0" dirty="0"/>
                        <a:t>To improve the compositional accuracy and semantic fidelity of text-to-image generation by introducing a novel, training-free framework—called RPG (Recaption, Plan, Generate)—that uses multimodal large language models (MLLMs) to guide the generation process.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Stable Diffusion XL (SDXL)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GPT-4 as the </a:t>
                      </a:r>
                      <a:r>
                        <a:rPr lang="en-GB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recaptioner</a:t>
                      </a:r>
                      <a:endParaRPr lang="en-GB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T2I-CompBench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b="1" dirty="0"/>
                        <a:t>Result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 err="1"/>
                        <a:t>Color</a:t>
                      </a:r>
                      <a:r>
                        <a:rPr lang="en-GB" dirty="0"/>
                        <a:t>=0.8743, shape= 0.6927, texture = 0.8506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750323"/>
                  </a:ext>
                </a:extLst>
              </a:tr>
              <a:tr h="2360615">
                <a:tc>
                  <a:txBody>
                    <a:bodyPr/>
                    <a:lstStyle/>
                    <a:p>
                      <a:r>
                        <a:rPr lang="en-GB" dirty="0"/>
                        <a:t>LLM4GEN:Leveraging Semantic Representation of LLMs for Text-to-Image Generation(2025)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To improve semantic understanding, compositionality, and fidelity in text-to-image generation by integrating Large Language Models (LLMs) into diffusion-based generative pipelines, without incurring heavy computational or data costs.</a:t>
                      </a:r>
                      <a:endParaRPr lang="en-GB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LLMs (T5-XL, LLaMA-2)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Stable Diffusion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MSCOCO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FID=(24.21), IS=(35.1), CLIP=(30.91)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10176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23141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EEC729-7C06-4C9C-E534-DE767893D4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000" y="263236"/>
            <a:ext cx="10272000" cy="5828597"/>
          </a:xfrm>
        </p:spPr>
        <p:txBody>
          <a:bodyPr/>
          <a:lstStyle/>
          <a:p>
            <a:r>
              <a:rPr lang="en-GB" dirty="0"/>
              <a:t>Paper name </a:t>
            </a:r>
          </a:p>
          <a:p>
            <a:endParaRPr lang="en-GB" dirty="0"/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65B47217-4BB7-DC36-43B3-C76FBAD115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7359619"/>
              </p:ext>
            </p:extLst>
          </p:nvPr>
        </p:nvGraphicFramePr>
        <p:xfrm>
          <a:off x="934448" y="140679"/>
          <a:ext cx="10297552" cy="5719588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905734">
                  <a:extLst>
                    <a:ext uri="{9D8B030D-6E8A-4147-A177-3AD203B41FA5}">
                      <a16:colId xmlns:a16="http://schemas.microsoft.com/office/drawing/2014/main" val="2680735961"/>
                    </a:ext>
                  </a:extLst>
                </a:gridCol>
                <a:gridCol w="3449782">
                  <a:extLst>
                    <a:ext uri="{9D8B030D-6E8A-4147-A177-3AD203B41FA5}">
                      <a16:colId xmlns:a16="http://schemas.microsoft.com/office/drawing/2014/main" val="3609482124"/>
                    </a:ext>
                  </a:extLst>
                </a:gridCol>
                <a:gridCol w="2009974">
                  <a:extLst>
                    <a:ext uri="{9D8B030D-6E8A-4147-A177-3AD203B41FA5}">
                      <a16:colId xmlns:a16="http://schemas.microsoft.com/office/drawing/2014/main" val="4125562156"/>
                    </a:ext>
                  </a:extLst>
                </a:gridCol>
                <a:gridCol w="2932062">
                  <a:extLst>
                    <a:ext uri="{9D8B030D-6E8A-4147-A177-3AD203B41FA5}">
                      <a16:colId xmlns:a16="http://schemas.microsoft.com/office/drawing/2014/main" val="2818434624"/>
                    </a:ext>
                  </a:extLst>
                </a:gridCol>
              </a:tblGrid>
              <a:tr h="345601">
                <a:tc>
                  <a:txBody>
                    <a:bodyPr/>
                    <a:lstStyle/>
                    <a:p>
                      <a:pPr algn="ctr"/>
                      <a:r>
                        <a:rPr lang="en-GB" sz="2000"/>
                        <a:t>Paper name </a:t>
                      </a:r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Research objective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Methods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Dataset &amp; Result 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702089"/>
                  </a:ext>
                </a:extLst>
              </a:tr>
              <a:tr h="3907951">
                <a:tc>
                  <a:txBody>
                    <a:bodyPr/>
                    <a:lstStyle/>
                    <a:p>
                      <a:r>
                        <a:rPr lang="en-GB" dirty="0"/>
                        <a:t>IA-T2I: Internet-Augmented Text-to-Image</a:t>
                      </a:r>
                    </a:p>
                    <a:p>
                      <a:r>
                        <a:rPr lang="en-GB" dirty="0"/>
                        <a:t>Generation</a:t>
                      </a:r>
                    </a:p>
                    <a:p>
                      <a:r>
                        <a:rPr lang="en-GB" dirty="0"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To address the limitations of text-to-image generation under uncertain knowledge, by introducing a novel Internet-Augmented T2I (IA-T2I) framework that retrieves, selects, and integrates reference images from the web—guided by large vision-language models and a self-reflection mechanism—to enhance accuracy and alignment with the text prompt.</a:t>
                      </a:r>
                      <a:endParaRPr lang="en-GB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Generation</a:t>
                      </a:r>
                      <a:r>
                        <a:rPr lang="en-GB" dirty="0"/>
                        <a:t> → FLUX, DDPM, Step1X-Edit, Gemini, or GPT-4o (used to actually generate the images).</a:t>
                      </a:r>
                    </a:p>
                    <a:p>
                      <a:r>
                        <a:rPr lang="en-GB" b="1" dirty="0"/>
                        <a:t>Guidance</a:t>
                      </a:r>
                      <a:r>
                        <a:rPr lang="en-GB" dirty="0"/>
                        <a:t> → GPT-4o or Qwen2.5-VL (used for active retrieval, query generation, hierarchical image selection, and self-reflection).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GB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b="1" dirty="0"/>
                        <a:t>Img-Ref-T2I</a:t>
                      </a:r>
                      <a:r>
                        <a:rPr lang="en-GB" dirty="0"/>
                        <a:t>. Dataset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Layout = </a:t>
                      </a:r>
                      <a:r>
                        <a:rPr lang="en-GB" b="1" dirty="0"/>
                        <a:t>98.6</a:t>
                      </a:r>
                      <a:endParaRPr lang="en-GB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 err="1"/>
                        <a:t>Color</a:t>
                      </a:r>
                      <a:r>
                        <a:rPr lang="en-GB" dirty="0"/>
                        <a:t> = </a:t>
                      </a:r>
                      <a:r>
                        <a:rPr lang="en-GB" b="1" dirty="0"/>
                        <a:t>99.3</a:t>
                      </a:r>
                      <a:endParaRPr lang="en-GB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Clearness = </a:t>
                      </a:r>
                      <a:r>
                        <a:rPr lang="en-GB" b="1" dirty="0"/>
                        <a:t>93.7</a:t>
                      </a:r>
                      <a:endParaRPr lang="en-GB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750323"/>
                  </a:ext>
                </a:extLst>
              </a:tr>
              <a:tr h="842788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10176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36168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56ED0E42-47C5-9BFA-4C7F-D44FAD952187}"/>
              </a:ext>
            </a:extLst>
          </p:cNvPr>
          <p:cNvSpPr/>
          <p:nvPr/>
        </p:nvSpPr>
        <p:spPr>
          <a:xfrm>
            <a:off x="2642382" y="1980027"/>
            <a:ext cx="6907236" cy="2254348"/>
          </a:xfrm>
          <a:prstGeom prst="fram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BBFF75-369C-F9CC-44FA-35226AF7CD6A}"/>
              </a:ext>
            </a:extLst>
          </p:cNvPr>
          <p:cNvSpPr txBox="1"/>
          <p:nvPr/>
        </p:nvSpPr>
        <p:spPr>
          <a:xfrm>
            <a:off x="3606018" y="2799470"/>
            <a:ext cx="49799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tx2">
                    <a:lumMod val="50000"/>
                  </a:schemeClr>
                </a:solidFill>
              </a:rPr>
              <a:t>Proposed</a:t>
            </a:r>
            <a:r>
              <a:rPr lang="en-US" sz="4800" dirty="0"/>
              <a:t> </a:t>
            </a:r>
            <a:r>
              <a:rPr lang="en-US" sz="4800" b="1" dirty="0">
                <a:solidFill>
                  <a:schemeClr val="tx2">
                    <a:lumMod val="50000"/>
                  </a:schemeClr>
                </a:solidFill>
              </a:rPr>
              <a:t>work</a:t>
            </a:r>
          </a:p>
        </p:txBody>
      </p:sp>
    </p:spTree>
    <p:extLst>
      <p:ext uri="{BB962C8B-B14F-4D97-AF65-F5344CB8AC3E}">
        <p14:creationId xmlns:p14="http://schemas.microsoft.com/office/powerpoint/2010/main" val="5401668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A3F8C-4F04-843C-E40E-B8F40D2F6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72748"/>
            <a:ext cx="10058400" cy="1450757"/>
          </a:xfrm>
        </p:spPr>
        <p:txBody>
          <a:bodyPr/>
          <a:lstStyle/>
          <a:p>
            <a:r>
              <a:rPr lang="en-GB" dirty="0">
                <a:solidFill>
                  <a:schemeClr val="bg2">
                    <a:lumMod val="10000"/>
                  </a:schemeClr>
                </a:solidFill>
              </a:rPr>
              <a:t>Contribution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93808-AE53-4D0E-7AE0-6CD1091307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45" y="1845733"/>
            <a:ext cx="10712335" cy="4430375"/>
          </a:xfrm>
        </p:spPr>
        <p:txBody>
          <a:bodyPr>
            <a:normAutofit fontScale="92500" lnSpcReduction="20000"/>
          </a:bodyPr>
          <a:lstStyle/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bg2">
                    <a:lumMod val="10000"/>
                  </a:schemeClr>
                </a:solidFill>
              </a:rPr>
              <a:t>T5 (Text-To-Text Transfer Transformer)</a:t>
            </a:r>
            <a:r>
              <a:rPr lang="en-GB" dirty="0">
                <a:solidFill>
                  <a:schemeClr val="bg2">
                    <a:lumMod val="10000"/>
                  </a:schemeClr>
                </a:solidFill>
              </a:rPr>
              <a:t> is pivotal for sophisticated text understanding, allowing for more nuanced and semantically accurate guidance of image generation and diverse description.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bg2">
                    <a:lumMod val="10000"/>
                  </a:schemeClr>
                </a:solidFill>
              </a:rPr>
              <a:t>Diffusion Models</a:t>
            </a:r>
            <a:r>
              <a:rPr lang="en-GB" sz="1800" b="0" i="0" dirty="0">
                <a:solidFill>
                  <a:srgbClr val="555555"/>
                </a:solidFill>
                <a:effectLst/>
                <a:latin typeface="Lato" panose="020F0502020204030203" pitchFamily="34" charset="0"/>
              </a:rPr>
              <a:t>, </a:t>
            </a:r>
            <a:r>
              <a:rPr lang="en-GB" dirty="0">
                <a:solidFill>
                  <a:schemeClr val="bg2">
                    <a:lumMod val="10000"/>
                  </a:schemeClr>
                </a:solidFill>
              </a:rPr>
              <a:t>which iteratively refine noisy images, this multimodal approach promise significant advancements in generating high-quality, coherent, and prompt-adherent images.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2">
                    <a:lumMod val="10000"/>
                  </a:schemeClr>
                </a:solidFill>
              </a:rPr>
              <a:t>Using </a:t>
            </a:r>
            <a:r>
              <a:rPr lang="en-GB" dirty="0" err="1"/>
              <a:t>WTConv</a:t>
            </a:r>
            <a:r>
              <a:rPr lang="en-GB" dirty="0">
                <a:solidFill>
                  <a:schemeClr val="bg2">
                    <a:lumMod val="10000"/>
                  </a:schemeClr>
                </a:solidFill>
              </a:rPr>
              <a:t> to enhance UNET in diffusion model which enhance denoising technique</a:t>
            </a:r>
          </a:p>
          <a:p>
            <a:pPr marL="0" indent="0">
              <a:buNone/>
            </a:pPr>
            <a:r>
              <a:rPr lang="en-GB" sz="2000" b="1" u="sng" dirty="0">
                <a:solidFill>
                  <a:schemeClr val="bg2">
                    <a:lumMod val="10000"/>
                  </a:schemeClr>
                </a:solidFill>
              </a:rPr>
              <a:t>So our contribution addresses: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GB" b="1" dirty="0">
                <a:solidFill>
                  <a:schemeClr val="bg2">
                    <a:lumMod val="10000"/>
                  </a:schemeClr>
                </a:solidFill>
              </a:rPr>
              <a:t>Better prompt understanding</a:t>
            </a:r>
            <a:r>
              <a:rPr lang="en-GB" dirty="0">
                <a:solidFill>
                  <a:schemeClr val="bg2">
                    <a:lumMod val="10000"/>
                  </a:schemeClr>
                </a:solidFill>
              </a:rPr>
              <a:t> (via T5)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GB" b="1" dirty="0">
                <a:solidFill>
                  <a:schemeClr val="bg2">
                    <a:lumMod val="10000"/>
                  </a:schemeClr>
                </a:solidFill>
              </a:rPr>
              <a:t>Improved global scene coherence</a:t>
            </a:r>
            <a:r>
              <a:rPr lang="en-GB" dirty="0">
                <a:solidFill>
                  <a:schemeClr val="bg2">
                    <a:lumMod val="10000"/>
                  </a:schemeClr>
                </a:solidFill>
              </a:rPr>
              <a:t> (via </a:t>
            </a:r>
            <a:r>
              <a:rPr lang="en-GB" dirty="0" err="1">
                <a:solidFill>
                  <a:schemeClr val="bg2">
                    <a:lumMod val="10000"/>
                  </a:schemeClr>
                </a:solidFill>
              </a:rPr>
              <a:t>WTConv</a:t>
            </a:r>
            <a:r>
              <a:rPr lang="en-GB" dirty="0">
                <a:solidFill>
                  <a:schemeClr val="bg2">
                    <a:lumMod val="10000"/>
                  </a:schemeClr>
                </a:solidFill>
              </a:rPr>
              <a:t>)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GB" b="1" dirty="0">
                <a:solidFill>
                  <a:schemeClr val="bg2">
                    <a:lumMod val="10000"/>
                  </a:schemeClr>
                </a:solidFill>
              </a:rPr>
              <a:t>Preservation of fine details</a:t>
            </a:r>
            <a:r>
              <a:rPr lang="en-GB" dirty="0">
                <a:solidFill>
                  <a:schemeClr val="bg2">
                    <a:lumMod val="10000"/>
                  </a:schemeClr>
                </a:solidFill>
              </a:rPr>
              <a:t> (via </a:t>
            </a:r>
            <a:r>
              <a:rPr lang="en-GB" dirty="0" err="1">
                <a:solidFill>
                  <a:schemeClr val="bg2">
                    <a:lumMod val="10000"/>
                  </a:schemeClr>
                </a:solidFill>
              </a:rPr>
              <a:t>WTConv</a:t>
            </a:r>
            <a:r>
              <a:rPr lang="en-GB" dirty="0">
                <a:solidFill>
                  <a:schemeClr val="bg2">
                    <a:lumMod val="10000"/>
                  </a:schemeClr>
                </a:solidFill>
              </a:rPr>
              <a:t> in denoising)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GB" b="1" dirty="0">
                <a:solidFill>
                  <a:schemeClr val="bg2">
                    <a:lumMod val="10000"/>
                  </a:schemeClr>
                </a:solidFill>
              </a:rPr>
              <a:t>More diverse and semantically rich images</a:t>
            </a:r>
            <a:r>
              <a:rPr lang="en-GB" dirty="0">
                <a:solidFill>
                  <a:schemeClr val="bg2">
                    <a:lumMod val="10000"/>
                  </a:schemeClr>
                </a:solidFill>
              </a:rPr>
              <a:t> (via multimodal fusion of T5 + diffusion)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GB" b="1" dirty="0">
              <a:solidFill>
                <a:schemeClr val="bg2">
                  <a:lumMod val="10000"/>
                </a:schemeClr>
              </a:solidFill>
            </a:endParaRPr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988413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FE7E2-2FB4-8C8A-82F7-BBB2D6E27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571" y="593367"/>
            <a:ext cx="10272000" cy="763600"/>
          </a:xfrm>
        </p:spPr>
        <p:txBody>
          <a:bodyPr/>
          <a:lstStyle/>
          <a:p>
            <a:r>
              <a:rPr lang="en-GB" dirty="0"/>
              <a:t>Our model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4848433-6738-CDB3-D4B9-458A418DD1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208" y="3521207"/>
            <a:ext cx="1873960" cy="466607"/>
          </a:xfrm>
          <a:prstGeom prst="roundRect">
            <a:avLst/>
          </a:prstGeom>
          <a:solidFill>
            <a:schemeClr val="accent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52396" indent="0" algn="ctr">
              <a:buNone/>
            </a:pPr>
            <a:r>
              <a:rPr lang="en-GB" sz="2000" dirty="0">
                <a:solidFill>
                  <a:schemeClr val="bg1"/>
                </a:solidFill>
              </a:rPr>
              <a:t>Diverse text</a:t>
            </a:r>
            <a:endParaRPr lang="en-GB" dirty="0">
              <a:solidFill>
                <a:schemeClr val="bg1"/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C89CDF2-90E0-F54E-EB02-E81F106EF2D6}"/>
              </a:ext>
            </a:extLst>
          </p:cNvPr>
          <p:cNvCxnSpPr>
            <a:cxnSpLocks/>
          </p:cNvCxnSpPr>
          <p:nvPr/>
        </p:nvCxnSpPr>
        <p:spPr>
          <a:xfrm flipV="1">
            <a:off x="2989167" y="3754513"/>
            <a:ext cx="169333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897C03E-1E51-BBD4-9209-6C033EC02925}"/>
              </a:ext>
            </a:extLst>
          </p:cNvPr>
          <p:cNvSpPr/>
          <p:nvPr/>
        </p:nvSpPr>
        <p:spPr>
          <a:xfrm>
            <a:off x="4682505" y="3521209"/>
            <a:ext cx="2272827" cy="466608"/>
          </a:xfrm>
          <a:prstGeom prst="roundRect">
            <a:avLst/>
          </a:prstGeom>
          <a:solidFill>
            <a:schemeClr val="accent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bg1"/>
                </a:solidFill>
              </a:rPr>
              <a:t>Diffusion</a:t>
            </a:r>
            <a:r>
              <a:rPr lang="en-GB" sz="2400" dirty="0">
                <a:solidFill>
                  <a:schemeClr val="tx1"/>
                </a:solidFill>
              </a:rPr>
              <a:t> </a:t>
            </a:r>
            <a:r>
              <a:rPr lang="en-GB" sz="2400" dirty="0">
                <a:solidFill>
                  <a:schemeClr val="bg1"/>
                </a:solidFill>
              </a:rPr>
              <a:t>model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774B76A-6F4A-2EFF-7FAE-554863785B9A}"/>
              </a:ext>
            </a:extLst>
          </p:cNvPr>
          <p:cNvSpPr txBox="1"/>
          <p:nvPr/>
        </p:nvSpPr>
        <p:spPr>
          <a:xfrm>
            <a:off x="2925195" y="3200056"/>
            <a:ext cx="18739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Textual prompt generated 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644B8AB-CC0B-D0D9-6080-BC03BF449684}"/>
              </a:ext>
            </a:extLst>
          </p:cNvPr>
          <p:cNvCxnSpPr>
            <a:cxnSpLocks/>
            <a:stCxn id="26" idx="3"/>
          </p:cNvCxnSpPr>
          <p:nvPr/>
        </p:nvCxnSpPr>
        <p:spPr>
          <a:xfrm flipV="1">
            <a:off x="6955332" y="3754512"/>
            <a:ext cx="152777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F11491C8-EB9B-3B76-58DC-86C90C1D5F8E}"/>
              </a:ext>
            </a:extLst>
          </p:cNvPr>
          <p:cNvSpPr/>
          <p:nvPr/>
        </p:nvSpPr>
        <p:spPr>
          <a:xfrm>
            <a:off x="8483105" y="3312882"/>
            <a:ext cx="2513660" cy="883259"/>
          </a:xfrm>
          <a:prstGeom prst="ellipse">
            <a:avLst/>
          </a:prstGeom>
          <a:solidFill>
            <a:srgbClr val="FF99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Generated image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F7A4BD9-5E88-C491-4881-C343D2D414E9}"/>
              </a:ext>
            </a:extLst>
          </p:cNvPr>
          <p:cNvSpPr txBox="1"/>
          <p:nvPr/>
        </p:nvSpPr>
        <p:spPr>
          <a:xfrm>
            <a:off x="7010939" y="3351931"/>
            <a:ext cx="14165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T2I Generation</a:t>
            </a:r>
          </a:p>
        </p:txBody>
      </p:sp>
      <p:sp>
        <p:nvSpPr>
          <p:cNvPr id="10" name="Text Placeholder 21">
            <a:extLst>
              <a:ext uri="{FF2B5EF4-FFF2-40B4-BE49-F238E27FC236}">
                <a16:creationId xmlns:a16="http://schemas.microsoft.com/office/drawing/2014/main" id="{56823FE2-2B44-76B4-9758-60F6E3FDF30A}"/>
              </a:ext>
            </a:extLst>
          </p:cNvPr>
          <p:cNvSpPr txBox="1">
            <a:spLocks/>
          </p:cNvSpPr>
          <p:nvPr/>
        </p:nvSpPr>
        <p:spPr>
          <a:xfrm>
            <a:off x="4799156" y="2507930"/>
            <a:ext cx="1873960" cy="466607"/>
          </a:xfrm>
          <a:prstGeom prst="roundRect">
            <a:avLst/>
          </a:prstGeom>
          <a:solidFill>
            <a:schemeClr val="accent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FirstLastPara="1" vert="horz" wrap="square" lIns="91425" tIns="91425" rIns="91425" bIns="91425" rtlCol="0" anchor="ctr" anchorCtr="0">
            <a:noAutofit/>
          </a:bodyPr>
          <a:lstStyle>
            <a:lvl1pPr marL="609585" lvl="0" indent="-457189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Darker Grotesque SemiBold"/>
              <a:buChar char="●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1219170" lvl="1" indent="-423323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Darker Grotesque SemiBold"/>
              <a:buChar char="○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828754" lvl="2" indent="-423323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Darker Grotesque SemiBold"/>
              <a:buChar char="■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438339" lvl="3" indent="-423323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Darker Grotesque SemiBold"/>
              <a:buChar char="●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3047924" lvl="4" indent="-423323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Darker Grotesque SemiBold"/>
              <a:buChar char="○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657509" lvl="5" indent="-423323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Darker Grotesque SemiBold"/>
              <a:buChar char="■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4267093" lvl="6" indent="-423323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Darker Grotesque SemiBold"/>
              <a:buChar char="●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876678" lvl="7" indent="-423323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Darker Grotesque SemiBold"/>
              <a:buChar char="○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486263" lvl="8" indent="-423323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Darker Grotesque SemiBold"/>
              <a:buChar char="■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2396" indent="0" algn="ctr">
              <a:buFont typeface="Darker Grotesque SemiBold"/>
              <a:buNone/>
            </a:pPr>
            <a:r>
              <a:rPr lang="en-GB" sz="2400" dirty="0" err="1"/>
              <a:t>WTConv</a:t>
            </a:r>
            <a:endParaRPr lang="en-GB" dirty="0">
              <a:solidFill>
                <a:schemeClr val="bg1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AE55A22-018E-DBCE-8928-A7A3B10CAFB1}"/>
              </a:ext>
            </a:extLst>
          </p:cNvPr>
          <p:cNvCxnSpPr>
            <a:cxnSpLocks/>
          </p:cNvCxnSpPr>
          <p:nvPr/>
        </p:nvCxnSpPr>
        <p:spPr>
          <a:xfrm>
            <a:off x="5718867" y="2893632"/>
            <a:ext cx="0" cy="6275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14005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56ED0E42-47C5-9BFA-4C7F-D44FAD952187}"/>
              </a:ext>
            </a:extLst>
          </p:cNvPr>
          <p:cNvSpPr/>
          <p:nvPr/>
        </p:nvSpPr>
        <p:spPr>
          <a:xfrm>
            <a:off x="2642382" y="1980027"/>
            <a:ext cx="6907236" cy="2254348"/>
          </a:xfrm>
          <a:prstGeom prst="fram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BBFF75-369C-F9CC-44FA-35226AF7CD6A}"/>
              </a:ext>
            </a:extLst>
          </p:cNvPr>
          <p:cNvSpPr txBox="1"/>
          <p:nvPr/>
        </p:nvSpPr>
        <p:spPr>
          <a:xfrm>
            <a:off x="3606018" y="2799470"/>
            <a:ext cx="49799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tx2">
                    <a:lumMod val="50000"/>
                  </a:schemeClr>
                </a:solidFill>
              </a:rPr>
              <a:t>REFRENCES</a:t>
            </a:r>
          </a:p>
        </p:txBody>
      </p:sp>
    </p:spTree>
    <p:extLst>
      <p:ext uri="{BB962C8B-B14F-4D97-AF65-F5344CB8AC3E}">
        <p14:creationId xmlns:p14="http://schemas.microsoft.com/office/powerpoint/2010/main" val="3107660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49CE82-DC86-478E-6BA3-D8EB20ED18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000" y="1717963"/>
            <a:ext cx="10272000" cy="4373869"/>
          </a:xfrm>
        </p:spPr>
        <p:txBody>
          <a:bodyPr/>
          <a:lstStyle/>
          <a:p>
            <a:pPr marL="152396" indent="0">
              <a:buNone/>
            </a:pPr>
            <a:endParaRPr lang="en-GB" dirty="0"/>
          </a:p>
          <a:p>
            <a:r>
              <a:rPr lang="en-GB" dirty="0"/>
              <a:t>Qu, L., Li, H., Wang, T., Wang, W., Li, Y., </a:t>
            </a:r>
            <a:r>
              <a:rPr lang="en-GB" dirty="0" err="1"/>
              <a:t>Nie</a:t>
            </a:r>
            <a:r>
              <a:rPr lang="en-GB" dirty="0"/>
              <a:t>, L., &amp; Chua, T.-S. (2025). </a:t>
            </a:r>
            <a:r>
              <a:rPr lang="en-GB" dirty="0" err="1"/>
              <a:t>TIGeR</a:t>
            </a:r>
            <a:r>
              <a:rPr lang="en-GB" dirty="0"/>
              <a:t>: Unifying Text-to-Image Generation and Retrieval with Large Multimodal Models. http://arxiv.org/abs/2406.05814</a:t>
            </a:r>
          </a:p>
          <a:p>
            <a:r>
              <a:rPr lang="en-GB" dirty="0"/>
              <a:t>Ramakrishnan, A. A., Huang, S. X., &amp; Lee, D. (2024). ANCHOR: LLM-driven News Subject Conditioning for Text-to-Image Synthesis. http://arxiv.org/abs/2404.10141</a:t>
            </a:r>
          </a:p>
          <a:p>
            <a:r>
              <a:rPr lang="en-GB" dirty="0"/>
              <a:t>Tan, Z., Yang, M., Qin, L., Yang, H., Qian, Y., Zhou, Q., Zhang, C., &amp; Li, H. (2024). An Empirical Study and Analysis of Text-to-Image Generation Using Large Language Model-Powered Textual Representation. http://arxiv.org/abs/2405.12914</a:t>
            </a:r>
          </a:p>
          <a:p>
            <a:r>
              <a:rPr lang="en-GB" dirty="0"/>
              <a:t>Castells, T., Song, H.-K., Piao, T., Choi, S., Kim, B.-K., </a:t>
            </a:r>
            <a:r>
              <a:rPr lang="en-GB" dirty="0" err="1"/>
              <a:t>Yim</a:t>
            </a:r>
            <a:r>
              <a:rPr lang="en-GB" dirty="0"/>
              <a:t>, H., Lee, C., Kim, J. G., &amp; Kim, T.-H. (2024). </a:t>
            </a:r>
            <a:r>
              <a:rPr lang="en-GB" dirty="0" err="1"/>
              <a:t>EdgeFusion</a:t>
            </a:r>
            <a:r>
              <a:rPr lang="en-GB" dirty="0"/>
              <a:t>: On-Device Text-to-Image Generation. http://arxiv.org/abs/2404.11925</a:t>
            </a:r>
          </a:p>
          <a:p>
            <a:r>
              <a:rPr lang="en-GB" dirty="0"/>
              <a:t>Yang, L., Yu, Z., Meng, C., Xu, M., </a:t>
            </a:r>
            <a:r>
              <a:rPr lang="en-GB" dirty="0" err="1"/>
              <a:t>Ermon</a:t>
            </a:r>
            <a:r>
              <a:rPr lang="en-GB" dirty="0"/>
              <a:t>, S., &amp; Cui, B. (2024). Mastering Text-to-Image Diffusion: Recaptioning, Planning, and Generating with Multimodal LLMs. </a:t>
            </a:r>
            <a:r>
              <a:rPr lang="en-GB" dirty="0">
                <a:hlinkClick r:id="rId2"/>
              </a:rPr>
              <a:t>https://github.com/YangLing0818/RPG-</a:t>
            </a:r>
            <a:endParaRPr lang="en-GB" dirty="0"/>
          </a:p>
          <a:p>
            <a:r>
              <a:rPr lang="en-GB" dirty="0"/>
              <a:t>Liu, M., Ma, Y., Yang, Z., Dan, J., Yu, Y., Zhao, Z., Hu, Z., Liu, B., &amp; Fan, C. (2025). LLM4GEN: Leveraging Semantic Representation of LLMs for Text-to-Image Generation. </a:t>
            </a:r>
            <a:r>
              <a:rPr lang="en-GB" dirty="0">
                <a:hlinkClick r:id="rId3"/>
              </a:rPr>
              <a:t>www.aaai.org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2292627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46464A"/>
      </a:dk2>
      <a:lt2>
        <a:srgbClr val="D1D9E1"/>
      </a:lt2>
      <a:accent1>
        <a:srgbClr val="6F6F74"/>
      </a:accent1>
      <a:accent2>
        <a:srgbClr val="A7B789"/>
      </a:accent2>
      <a:accent3>
        <a:srgbClr val="BEAE98"/>
      </a:accent3>
      <a:accent4>
        <a:srgbClr val="92A9B9"/>
      </a:accent4>
      <a:accent5>
        <a:srgbClr val="9C8265"/>
      </a:accent5>
      <a:accent6>
        <a:srgbClr val="8D6974"/>
      </a:accent6>
      <a:hlink>
        <a:srgbClr val="67AABF"/>
      </a:hlink>
      <a:folHlink>
        <a:srgbClr val="B1B5AB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BAB94BD4-5D6D-4148-AB57-A4CCF1FD4E0C}"/>
    </a:ext>
  </a:extLst>
</a:theme>
</file>